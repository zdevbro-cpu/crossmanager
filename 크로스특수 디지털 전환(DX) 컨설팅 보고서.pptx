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571" y="1199515"/>
            <a:ext cx="4384983" cy="49352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590675"/>
            <a:ext cx="952500" cy="57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86275"/>
            <a:ext cx="3810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81700"/>
            <a:ext cx="12192000" cy="876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0475" y="63341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8057" y="6334125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7538" y="6334125"/>
            <a:ext cx="190500" cy="152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914400" y="1019175"/>
            <a:ext cx="2329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CONTULTING REPORT</a:t>
            </a:r>
            <a:endParaRPr lang="en-US" sz="1200" dirty="0"/>
          </a:p>
        </p:txBody>
      </p:sp>
      <p:sp>
        <p:nvSpPr>
          <p:cNvPr id="13" name="Text 1"/>
          <p:cNvSpPr/>
          <p:nvPr/>
        </p:nvSpPr>
        <p:spPr>
          <a:xfrm>
            <a:off x="914400" y="1838325"/>
            <a:ext cx="75503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 디지털 전환(DX)</a:t>
            </a:r>
            <a:pPr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pPr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컨설팅 보고서</a:t>
            </a:r>
            <a:endParaRPr lang="en-US" sz="4500" dirty="0"/>
          </a:p>
        </p:txBody>
      </p:sp>
      <p:sp>
        <p:nvSpPr>
          <p:cNvPr id="14" name="Text 2"/>
          <p:cNvSpPr/>
          <p:nvPr/>
        </p:nvSpPr>
        <p:spPr>
          <a:xfrm>
            <a:off x="914400" y="3209925"/>
            <a:ext cx="7122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효율적인 업무 프로세스 개선과 AI 기반 미래 경쟁력 확보를 위한 전략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1104900" y="4467225"/>
            <a:ext cx="1958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Date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1104900" y="4695825"/>
            <a:ext cx="1958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2025년 12월 5일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914400" y="6286500"/>
            <a:ext cx="20006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 SPECIAL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7887593" y="6324600"/>
            <a:ext cx="9726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전환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8850511" y="6305550"/>
            <a:ext cx="6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|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9293275" y="6324600"/>
            <a:ext cx="9726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업무 효율화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10179993" y="6305550"/>
            <a:ext cx="6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|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10622756" y="6324600"/>
            <a:ext cx="7858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고도화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81075"/>
            <a:ext cx="171450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409700"/>
            <a:ext cx="5562600" cy="3124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3848100"/>
            <a:ext cx="1143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1529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9810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409700"/>
            <a:ext cx="5562600" cy="533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5240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2057400"/>
            <a:ext cx="5562600" cy="533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17170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2705100"/>
            <a:ext cx="5562600" cy="533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81940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3352800"/>
            <a:ext cx="5562600" cy="533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467100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4000500"/>
            <a:ext cx="5562600" cy="533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4114800"/>
            <a:ext cx="30480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회사 현황 및 컨설팅 목표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552450" y="952500"/>
            <a:ext cx="556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회사 현황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495300" y="1600200"/>
            <a:ext cx="6217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크로스특수는 국내 최고의 해체 및 철거 전문 기업으로서,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495300" y="1981200"/>
            <a:ext cx="6217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LG디스플레이, 삼성디스플레이, 삼성전기 등 대형 IT 기업의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495300" y="2362200"/>
            <a:ext cx="518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프로젝트를 성공적으로 수행하며 풍부한 경험과 장비 경쟁력을 확보하고 있습니다.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495300" y="31242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현재 운영 문제점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571500" y="3505200"/>
            <a:ext cx="3091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엑셀 기반의 장비 및 인력 배정 시스템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685800" y="3810000"/>
            <a:ext cx="24853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수기 및 문서 중심의 보고 체계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723900" y="4114800"/>
            <a:ext cx="2609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개별 문서로 관理되는 안전 업무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629400" y="952500"/>
            <a:ext cx="556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컨설팅 목표</a:t>
            </a:r>
            <a:endParaRPr lang="en-US" sz="1800" dirty="0"/>
          </a:p>
        </p:txBody>
      </p:sp>
      <p:sp>
        <p:nvSpPr>
          <p:cNvPr id="29" name="Text 10"/>
          <p:cNvSpPr/>
          <p:nvPr/>
        </p:nvSpPr>
        <p:spPr>
          <a:xfrm>
            <a:off x="6538168" y="1524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6858000" y="1543050"/>
            <a:ext cx="225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업무 디지털화 기반 마련</a:t>
            </a:r>
            <a:endParaRPr lang="en-US" sz="1350" dirty="0"/>
          </a:p>
        </p:txBody>
      </p:sp>
      <p:sp>
        <p:nvSpPr>
          <p:cNvPr id="31" name="Text 12"/>
          <p:cNvSpPr/>
          <p:nvPr/>
        </p:nvSpPr>
        <p:spPr>
          <a:xfrm>
            <a:off x="6538168" y="21717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6858000" y="2190750"/>
            <a:ext cx="3955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안전 관리 수준 향상 및 무재해 시스템 강화</a:t>
            </a:r>
            <a:endParaRPr lang="en-US" sz="1350" dirty="0"/>
          </a:p>
        </p:txBody>
      </p:sp>
      <p:sp>
        <p:nvSpPr>
          <p:cNvPr id="33" name="Text 14"/>
          <p:cNvSpPr/>
          <p:nvPr/>
        </p:nvSpPr>
        <p:spPr>
          <a:xfrm>
            <a:off x="6538168" y="2819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858000" y="2838450"/>
            <a:ext cx="2319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 및 인력 운영 효율화</a:t>
            </a:r>
            <a:endParaRPr lang="en-US" sz="1350" dirty="0"/>
          </a:p>
        </p:txBody>
      </p:sp>
      <p:sp>
        <p:nvSpPr>
          <p:cNvPr id="35" name="Text 16"/>
          <p:cNvSpPr/>
          <p:nvPr/>
        </p:nvSpPr>
        <p:spPr>
          <a:xfrm>
            <a:off x="6538168" y="34671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858000" y="3486150"/>
            <a:ext cx="225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 관리 체계 통합</a:t>
            </a:r>
            <a:endParaRPr lang="en-US" sz="1350" dirty="0"/>
          </a:p>
        </p:txBody>
      </p:sp>
      <p:sp>
        <p:nvSpPr>
          <p:cNvPr id="37" name="Text 18"/>
          <p:cNvSpPr/>
          <p:nvPr/>
        </p:nvSpPr>
        <p:spPr>
          <a:xfrm>
            <a:off x="6538168" y="4114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6858000" y="4133850"/>
            <a:ext cx="2314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기반 미래 경쟁력 확보</a:t>
            </a:r>
            <a:endParaRPr lang="en-US" sz="1350" dirty="0"/>
          </a:p>
        </p:txBody>
      </p:sp>
      <p:sp>
        <p:nvSpPr>
          <p:cNvPr id="39" name="Text 20"/>
          <p:cNvSpPr/>
          <p:nvPr/>
        </p:nvSpPr>
        <p:spPr>
          <a:xfrm>
            <a:off x="304800" y="6553200"/>
            <a:ext cx="1158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 디지털 전환 컨설팅 보고서 | 2/8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62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048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95400"/>
            <a:ext cx="5715000" cy="952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4097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524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362200"/>
            <a:ext cx="5715000" cy="952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2476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5908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3429000"/>
            <a:ext cx="5715000" cy="952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" y="35433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150" y="36576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4495800"/>
            <a:ext cx="5715000" cy="952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" y="46101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150" y="4724400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8600" y="5562600"/>
            <a:ext cx="5715000" cy="952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900" y="56769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57912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0" y="904875"/>
            <a:ext cx="228600" cy="2286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1257300"/>
            <a:ext cx="5715000" cy="27432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1257300"/>
            <a:ext cx="5715000" cy="4572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400" y="1714500"/>
            <a:ext cx="5715000" cy="4572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8400" y="1714500"/>
            <a:ext cx="1611660" cy="4572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60060" y="1714500"/>
            <a:ext cx="4103340" cy="4572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48400" y="2171700"/>
            <a:ext cx="5715000" cy="4572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48400" y="2171700"/>
            <a:ext cx="1611660" cy="4572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60060" y="2171700"/>
            <a:ext cx="4103340" cy="4572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48400" y="2628900"/>
            <a:ext cx="5715000" cy="4572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48400" y="2628900"/>
            <a:ext cx="1611660" cy="4572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60060" y="2628900"/>
            <a:ext cx="4103340" cy="4572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48400" y="3086100"/>
            <a:ext cx="5715000" cy="4572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48400" y="3086100"/>
            <a:ext cx="1611660" cy="4572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60060" y="3086100"/>
            <a:ext cx="4103340" cy="4572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48400" y="3543300"/>
            <a:ext cx="5715000" cy="4572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현재 업무환경 진단 및 문제점</a:t>
            </a:r>
            <a:endParaRPr lang="en-US" sz="2250" dirty="0"/>
          </a:p>
        </p:txBody>
      </p:sp>
      <p:sp>
        <p:nvSpPr>
          <p:cNvPr id="37" name="Text 1"/>
          <p:cNvSpPr/>
          <p:nvPr/>
        </p:nvSpPr>
        <p:spPr>
          <a:xfrm>
            <a:off x="533400" y="8763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5개 분야별 핵심 문제점</a:t>
            </a:r>
            <a:endParaRPr lang="en-US" sz="1800" dirty="0"/>
          </a:p>
        </p:txBody>
      </p:sp>
      <p:sp>
        <p:nvSpPr>
          <p:cNvPr id="38" name="Text 2"/>
          <p:cNvSpPr/>
          <p:nvPr/>
        </p:nvSpPr>
        <p:spPr>
          <a:xfrm>
            <a:off x="838200" y="140970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 관리</a:t>
            </a:r>
            <a:endParaRPr lang="en-US" sz="1350" dirty="0"/>
          </a:p>
        </p:txBody>
      </p:sp>
      <p:sp>
        <p:nvSpPr>
          <p:cNvPr id="39" name="Text 3"/>
          <p:cNvSpPr/>
          <p:nvPr/>
        </p:nvSpPr>
        <p:spPr>
          <a:xfrm>
            <a:off x="838200" y="16764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 배정, 인력 배치, 공정 일정 관리가 엑셀을 통해 수작업으로 이루어져 실시간 현황 파악이 어렵습니다.</a:t>
            </a:r>
            <a:endParaRPr lang="en-US" sz="1200" dirty="0"/>
          </a:p>
        </p:txBody>
      </p:sp>
      <p:sp>
        <p:nvSpPr>
          <p:cNvPr id="40" name="Text 4"/>
          <p:cNvSpPr/>
          <p:nvPr/>
        </p:nvSpPr>
        <p:spPr>
          <a:xfrm>
            <a:off x="838200" y="247650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안전 관리</a:t>
            </a:r>
            <a:endParaRPr lang="en-US" sz="1350" dirty="0"/>
          </a:p>
        </p:txBody>
      </p:sp>
      <p:sp>
        <p:nvSpPr>
          <p:cNvPr id="41" name="Text 5"/>
          <p:cNvSpPr/>
          <p:nvPr/>
        </p:nvSpPr>
        <p:spPr>
          <a:xfrm>
            <a:off x="838200" y="27432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안전 문서는 개별적으로 관리되며, 현장 체크리스트나 안전 교육 이력 등이 체계적으로 통합되지 않아 사고 예방 체계에 한계가 있습니다.</a:t>
            </a:r>
            <a:endParaRPr lang="en-US" sz="1200" dirty="0"/>
          </a:p>
        </p:txBody>
      </p:sp>
      <p:sp>
        <p:nvSpPr>
          <p:cNvPr id="42" name="Text 6"/>
          <p:cNvSpPr/>
          <p:nvPr/>
        </p:nvSpPr>
        <p:spPr>
          <a:xfrm>
            <a:off x="838200" y="354330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 관리</a:t>
            </a:r>
            <a:endParaRPr lang="en-US" sz="1350" dirty="0"/>
          </a:p>
        </p:txBody>
      </p:sp>
      <p:sp>
        <p:nvSpPr>
          <p:cNvPr id="43" name="Text 7"/>
          <p:cNvSpPr/>
          <p:nvPr/>
        </p:nvSpPr>
        <p:spPr>
          <a:xfrm>
            <a:off x="838200" y="38100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보유 장비의 가동률 파악이 어렵고, 중복 배정이나 비효율적인 운영이 발생하며, 정비 주기 알림 등 체계적인 관리가 미흡합니다.</a:t>
            </a:r>
            <a:endParaRPr lang="en-US" sz="1200" dirty="0"/>
          </a:p>
        </p:txBody>
      </p:sp>
      <p:sp>
        <p:nvSpPr>
          <p:cNvPr id="44" name="Text 8"/>
          <p:cNvSpPr/>
          <p:nvPr/>
        </p:nvSpPr>
        <p:spPr>
          <a:xfrm>
            <a:off x="838200" y="461010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인력 관리</a:t>
            </a:r>
            <a:endParaRPr lang="en-US" sz="1350" dirty="0"/>
          </a:p>
        </p:txBody>
      </p:sp>
      <p:sp>
        <p:nvSpPr>
          <p:cNvPr id="45" name="Text 9"/>
          <p:cNvSpPr/>
          <p:nvPr/>
        </p:nvSpPr>
        <p:spPr>
          <a:xfrm>
            <a:off x="838200" y="48768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현장 인력의 교육 이력, 자격증 관리, 배치 현황 등이 엑셀이나 수기 문서로 관리되어 인력 운영의 비효율성을 초래합니다.</a:t>
            </a:r>
            <a:endParaRPr lang="en-US" sz="1200" dirty="0"/>
          </a:p>
        </p:txBody>
      </p:sp>
      <p:sp>
        <p:nvSpPr>
          <p:cNvPr id="46" name="Text 10"/>
          <p:cNvSpPr/>
          <p:nvPr/>
        </p:nvSpPr>
        <p:spPr>
          <a:xfrm>
            <a:off x="838200" y="567690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폐기물/스크랩 관리</a:t>
            </a:r>
            <a:endParaRPr lang="en-US" sz="1350" dirty="0"/>
          </a:p>
        </p:txBody>
      </p:sp>
      <p:sp>
        <p:nvSpPr>
          <p:cNvPr id="47" name="Text 11"/>
          <p:cNvSpPr/>
          <p:nvPr/>
        </p:nvSpPr>
        <p:spPr>
          <a:xfrm>
            <a:off x="838200" y="59436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스크랩 반출량 입력 및 정산 과정이 수작업으로 이루어져 정확성과 투명성이 부족하며, 이력 관리가 어렵습니다.</a:t>
            </a:r>
            <a:endParaRPr lang="en-US" sz="1200" dirty="0"/>
          </a:p>
        </p:txBody>
      </p:sp>
      <p:sp>
        <p:nvSpPr>
          <p:cNvPr id="48" name="Text 12"/>
          <p:cNvSpPr/>
          <p:nvPr/>
        </p:nvSpPr>
        <p:spPr>
          <a:xfrm>
            <a:off x="6553200" y="8763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핵심 문제점 요약</a:t>
            </a:r>
            <a:endParaRPr lang="en-US" sz="1800" dirty="0"/>
          </a:p>
        </p:txBody>
      </p:sp>
      <p:sp>
        <p:nvSpPr>
          <p:cNvPr id="49" name="Text 13"/>
          <p:cNvSpPr/>
          <p:nvPr/>
        </p:nvSpPr>
        <p:spPr>
          <a:xfrm>
            <a:off x="6400800" y="1257300"/>
            <a:ext cx="161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분야</a:t>
            </a:r>
            <a:endParaRPr lang="en-US" sz="1200" dirty="0"/>
          </a:p>
        </p:txBody>
      </p:sp>
      <p:sp>
        <p:nvSpPr>
          <p:cNvPr id="50" name="Text 14"/>
          <p:cNvSpPr/>
          <p:nvPr/>
        </p:nvSpPr>
        <p:spPr>
          <a:xfrm>
            <a:off x="8012460" y="1257300"/>
            <a:ext cx="410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문제점</a:t>
            </a:r>
            <a:endParaRPr lang="en-US" sz="1200" dirty="0"/>
          </a:p>
        </p:txBody>
      </p:sp>
      <p:sp>
        <p:nvSpPr>
          <p:cNvPr id="51" name="Text 15"/>
          <p:cNvSpPr/>
          <p:nvPr/>
        </p:nvSpPr>
        <p:spPr>
          <a:xfrm>
            <a:off x="6400800" y="1714500"/>
            <a:ext cx="161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</a:t>
            </a:r>
            <a:endParaRPr lang="en-US" sz="1200" dirty="0"/>
          </a:p>
        </p:txBody>
      </p:sp>
      <p:sp>
        <p:nvSpPr>
          <p:cNvPr id="52" name="Text 16"/>
          <p:cNvSpPr/>
          <p:nvPr/>
        </p:nvSpPr>
        <p:spPr>
          <a:xfrm>
            <a:off x="8012460" y="1714500"/>
            <a:ext cx="4924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일정 및 보고서 관리 비효율, 데이터 누락</a:t>
            </a:r>
            <a:endParaRPr lang="en-US" sz="1200" dirty="0"/>
          </a:p>
        </p:txBody>
      </p:sp>
      <p:sp>
        <p:nvSpPr>
          <p:cNvPr id="53" name="Text 17"/>
          <p:cNvSpPr/>
          <p:nvPr/>
        </p:nvSpPr>
        <p:spPr>
          <a:xfrm>
            <a:off x="6400800" y="2171700"/>
            <a:ext cx="161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안전</a:t>
            </a:r>
            <a:endParaRPr lang="en-US" sz="1200" dirty="0"/>
          </a:p>
        </p:txBody>
      </p:sp>
      <p:sp>
        <p:nvSpPr>
          <p:cNvPr id="54" name="Text 18"/>
          <p:cNvSpPr/>
          <p:nvPr/>
        </p:nvSpPr>
        <p:spPr>
          <a:xfrm>
            <a:off x="8012460" y="2171700"/>
            <a:ext cx="4924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문서 중심 관리로 인한 사고 예방 체계 한계</a:t>
            </a:r>
            <a:endParaRPr lang="en-US" sz="1200" dirty="0"/>
          </a:p>
        </p:txBody>
      </p:sp>
      <p:sp>
        <p:nvSpPr>
          <p:cNvPr id="55" name="Text 19"/>
          <p:cNvSpPr/>
          <p:nvPr/>
        </p:nvSpPr>
        <p:spPr>
          <a:xfrm>
            <a:off x="6400800" y="2628900"/>
            <a:ext cx="161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</a:t>
            </a:r>
            <a:endParaRPr lang="en-US" sz="1200" dirty="0"/>
          </a:p>
        </p:txBody>
      </p:sp>
      <p:sp>
        <p:nvSpPr>
          <p:cNvPr id="56" name="Text 20"/>
          <p:cNvSpPr/>
          <p:nvPr/>
        </p:nvSpPr>
        <p:spPr>
          <a:xfrm>
            <a:off x="8012460" y="2628900"/>
            <a:ext cx="410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중복 배정, 가동률 파악 어려움</a:t>
            </a:r>
            <a:endParaRPr lang="en-US" sz="1200" dirty="0"/>
          </a:p>
        </p:txBody>
      </p:sp>
      <p:sp>
        <p:nvSpPr>
          <p:cNvPr id="57" name="Text 21"/>
          <p:cNvSpPr/>
          <p:nvPr/>
        </p:nvSpPr>
        <p:spPr>
          <a:xfrm>
            <a:off x="6400800" y="3086100"/>
            <a:ext cx="161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인력</a:t>
            </a:r>
            <a:endParaRPr lang="en-US" sz="1200" dirty="0"/>
          </a:p>
        </p:txBody>
      </p:sp>
      <p:sp>
        <p:nvSpPr>
          <p:cNvPr id="58" name="Text 22"/>
          <p:cNvSpPr/>
          <p:nvPr/>
        </p:nvSpPr>
        <p:spPr>
          <a:xfrm>
            <a:off x="8012460" y="3086100"/>
            <a:ext cx="410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현장 인력 배치 및 자격증 관리 비효율</a:t>
            </a:r>
            <a:endParaRPr lang="en-US" sz="1200" dirty="0"/>
          </a:p>
        </p:txBody>
      </p:sp>
      <p:sp>
        <p:nvSpPr>
          <p:cNvPr id="59" name="Text 23"/>
          <p:cNvSpPr/>
          <p:nvPr/>
        </p:nvSpPr>
        <p:spPr>
          <a:xfrm>
            <a:off x="6400800" y="3543300"/>
            <a:ext cx="161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폐기물/스크랩</a:t>
            </a:r>
            <a:endParaRPr lang="en-US" sz="1200" dirty="0"/>
          </a:p>
        </p:txBody>
      </p:sp>
      <p:sp>
        <p:nvSpPr>
          <p:cNvPr id="60" name="Text 24"/>
          <p:cNvSpPr/>
          <p:nvPr/>
        </p:nvSpPr>
        <p:spPr>
          <a:xfrm>
            <a:off x="8012460" y="3543300"/>
            <a:ext cx="410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정산 및 이력 관리 체계 부재</a:t>
            </a:r>
            <a:endParaRPr lang="en-US" sz="1200" dirty="0"/>
          </a:p>
        </p:txBody>
      </p:sp>
      <p:sp>
        <p:nvSpPr>
          <p:cNvPr id="61" name="Text 25"/>
          <p:cNvSpPr/>
          <p:nvPr/>
        </p:nvSpPr>
        <p:spPr>
          <a:xfrm>
            <a:off x="304800" y="6858000"/>
            <a:ext cx="1158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 디지털 전환 컨설팅 보고서 | 3/8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28700"/>
            <a:ext cx="5638800" cy="1524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219200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67640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20955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028700"/>
            <a:ext cx="5638800" cy="1524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2192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6100" y="167640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6100" y="20955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2781300"/>
            <a:ext cx="5638800" cy="1524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29718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3429000"/>
            <a:ext cx="142875" cy="266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500" y="38481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2781300"/>
            <a:ext cx="5638800" cy="1524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971800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96100" y="34290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96100" y="3848100"/>
            <a:ext cx="219075" cy="2667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800" y="4610100"/>
            <a:ext cx="11582400" cy="762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4772025"/>
            <a:ext cx="133350" cy="17145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3단계 디지털 전환 전략 - 1단계: 기반 구축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588020" y="1219200"/>
            <a:ext cx="365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914400" y="1238250"/>
            <a:ext cx="30616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클라우드 기반 협업 환경 도입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1304925" y="1638300"/>
            <a:ext cx="3847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Microsoft 365 또는 Google Workspace 도입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257300" y="2057400"/>
            <a:ext cx="32748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실시간 정보 공유 및 업데이트 환경 구축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6531620" y="1219200"/>
            <a:ext cx="365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6858000" y="1238250"/>
            <a:ext cx="19084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데이터베이스 구축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7181850" y="1638300"/>
            <a:ext cx="3574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장비, 인력, 프로젝트 관련 데이터 통합 관리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200900" y="2057400"/>
            <a:ext cx="24853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보안 및 백업 체계 구축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588020" y="2971800"/>
            <a:ext cx="365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914400" y="2990850"/>
            <a:ext cx="31412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업무 표준화 및 문서 체계 정비</a:t>
            </a:r>
            <a:endParaRPr lang="en-US" sz="1500" dirty="0"/>
          </a:p>
        </p:txBody>
      </p:sp>
      <p:sp>
        <p:nvSpPr>
          <p:cNvPr id="33" name="Text 11"/>
          <p:cNvSpPr/>
          <p:nvPr/>
        </p:nvSpPr>
        <p:spPr>
          <a:xfrm>
            <a:off x="1209675" y="3390900"/>
            <a:ext cx="139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업무 문서 표준화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257300" y="3810000"/>
            <a:ext cx="2302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빠른 검색 및 참조 기능 구현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531620" y="2971800"/>
            <a:ext cx="365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350" dirty="0"/>
          </a:p>
        </p:txBody>
      </p:sp>
      <p:sp>
        <p:nvSpPr>
          <p:cNvPr id="36" name="Text 14"/>
          <p:cNvSpPr/>
          <p:nvPr/>
        </p:nvSpPr>
        <p:spPr>
          <a:xfrm>
            <a:off x="6858000" y="2990850"/>
            <a:ext cx="46268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초기 프로젝트 관리 시스템(PMS Lite) 도입</a:t>
            </a:r>
            <a:endParaRPr lang="en-US" sz="1500" dirty="0"/>
          </a:p>
        </p:txBody>
      </p:sp>
      <p:sp>
        <p:nvSpPr>
          <p:cNvPr id="37" name="Text 15"/>
          <p:cNvSpPr/>
          <p:nvPr/>
        </p:nvSpPr>
        <p:spPr>
          <a:xfrm>
            <a:off x="7200900" y="3390900"/>
            <a:ext cx="2668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 일정 및 진행 상황 관리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7229475" y="3810000"/>
            <a:ext cx="2003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전환의 기반 마련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628650" y="4724400"/>
            <a:ext cx="1135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기대효과</a:t>
            </a:r>
            <a:endParaRPr lang="en-US" sz="1350" dirty="0"/>
          </a:p>
        </p:txBody>
      </p:sp>
      <p:sp>
        <p:nvSpPr>
          <p:cNvPr id="40" name="Text 18"/>
          <p:cNvSpPr/>
          <p:nvPr/>
        </p:nvSpPr>
        <p:spPr>
          <a:xfrm>
            <a:off x="419100" y="5029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1단계 기반 구축을 통해 데이터 중앙화, 업무 표준화, 협업 효율 증대를 통한 디지털 전환 토대 마련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304800" y="6553200"/>
            <a:ext cx="1158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 디지털 전환 컨설팅 보고서 | 4/8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95400"/>
            <a:ext cx="3759101" cy="2095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478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621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98120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514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048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6450" y="1524000"/>
            <a:ext cx="3759101" cy="1638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8850" y="16764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3150" y="17907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5050" y="220980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5050" y="25146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5050" y="2819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8099" y="1409700"/>
            <a:ext cx="3759101" cy="1866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80499" y="15621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5749" y="167640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6699" y="20955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56699" y="24003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6699" y="2933700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8600" y="3695700"/>
            <a:ext cx="11734800" cy="13716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05710" y="3886200"/>
            <a:ext cx="238125" cy="1905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42672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0" y="42672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84818" y="6581775"/>
            <a:ext cx="114300" cy="13335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3단계 디지털 전환 전략 - 2단계: 시스템 통합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228600" y="876300"/>
            <a:ext cx="1173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기반 구축 이후 핵심 업무 시스템들을 통합하여 시너지를 창출</a:t>
            </a:r>
            <a:endParaRPr lang="en-US" sz="1350" dirty="0"/>
          </a:p>
        </p:txBody>
      </p:sp>
      <p:sp>
        <p:nvSpPr>
          <p:cNvPr id="29" name="Text 2"/>
          <p:cNvSpPr/>
          <p:nvPr/>
        </p:nvSpPr>
        <p:spPr>
          <a:xfrm>
            <a:off x="952500" y="1504950"/>
            <a:ext cx="2753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통합 프로젝트 관리 시스템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742950" y="1943100"/>
            <a:ext cx="31685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WBS 기반 자동 일정 생성, 캘린더 및 간트 차트 연동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762000" y="2476500"/>
            <a:ext cx="3149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실시간 공정 현황 모니터링 및 보고서 자동 생성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762000" y="3009900"/>
            <a:ext cx="2851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프로젝트별 위험 요소 식별 및 관리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4864150" y="1733550"/>
            <a:ext cx="2296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통합 안전 관리 시스템</a:t>
            </a:r>
            <a:endParaRPr lang="en-US" sz="1500" dirty="0"/>
          </a:p>
        </p:txBody>
      </p:sp>
      <p:sp>
        <p:nvSpPr>
          <p:cNvPr id="34" name="Text 7"/>
          <p:cNvSpPr/>
          <p:nvPr/>
        </p:nvSpPr>
        <p:spPr>
          <a:xfrm>
            <a:off x="4635550" y="2171700"/>
            <a:ext cx="2949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DRI(일일 위험 예측 보고) 자동 생성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4673650" y="2476500"/>
            <a:ext cx="21279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현장 체크리스트 모바일화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4673650" y="2781300"/>
            <a:ext cx="2909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교육 이력 및 자격증 만료 알림 기능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8775799" y="1619250"/>
            <a:ext cx="2296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통합 자원 관리 시스템</a:t>
            </a:r>
            <a:endParaRPr lang="en-US" sz="1500" dirty="0"/>
          </a:p>
        </p:txBody>
      </p:sp>
      <p:sp>
        <p:nvSpPr>
          <p:cNvPr id="38" name="Text 11"/>
          <p:cNvSpPr/>
          <p:nvPr/>
        </p:nvSpPr>
        <p:spPr>
          <a:xfrm>
            <a:off x="8623399" y="2057400"/>
            <a:ext cx="319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 DB화 (굴착기, 카트리, 지게차 등)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8585299" y="2362200"/>
            <a:ext cx="3149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정비 주기 분석 및 알림, 프로젝트별 적정 장비 추천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8566249" y="2895600"/>
            <a:ext cx="3574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작업자별 교육 이력, 자격증, 투입 기록 관리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381000" y="38481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통합 효과</a:t>
            </a:r>
            <a:endParaRPr lang="en-US" sz="1500" dirty="0"/>
          </a:p>
        </p:txBody>
      </p:sp>
      <p:sp>
        <p:nvSpPr>
          <p:cNvPr id="42" name="Text 15"/>
          <p:cNvSpPr/>
          <p:nvPr/>
        </p:nvSpPr>
        <p:spPr>
          <a:xfrm>
            <a:off x="609600" y="4229100"/>
            <a:ext cx="269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전자결재 및 모바일 현장 앱 구축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609600" y="4533900"/>
            <a:ext cx="5562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현장 업무의 신속성을 위해 전자결재 및 모바일 현장 앱을 구축하여 사진/영상 자동 업로드, 체크리스트 전자 입력, QR 기반 장비 확인, 위험 알림 기능을 제공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6477000" y="4229100"/>
            <a:ext cx="2019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전사적 업무 효율 극대화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6477000" y="4533900"/>
            <a:ext cx="5562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통합된 시스템을 통해 데이터의 일관性和 접근성을 확보하고, 정보 공유의 지연을 줄이며, 업무 비효율성과 관리 혼선을 감소시켜 전사적 업무 효율을 극대화</a:t>
            </a:r>
            <a:endParaRPr lang="en-US" sz="1050" dirty="0"/>
          </a:p>
        </p:txBody>
      </p:sp>
      <p:sp>
        <p:nvSpPr>
          <p:cNvPr id="46" name="Text 19"/>
          <p:cNvSpPr/>
          <p:nvPr/>
        </p:nvSpPr>
        <p:spPr>
          <a:xfrm>
            <a:off x="304800" y="6553200"/>
            <a:ext cx="31770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 디지털 전환 컨설팅 보고서 | 5/8</a:t>
            </a:r>
            <a:endParaRPr lang="en-US" sz="1050" dirty="0"/>
          </a:p>
        </p:txBody>
      </p:sp>
      <p:sp>
        <p:nvSpPr>
          <p:cNvPr id="47" name="Text 20"/>
          <p:cNvSpPr/>
          <p:nvPr/>
        </p:nvSpPr>
        <p:spPr>
          <a:xfrm>
            <a:off x="9287768" y="6572250"/>
            <a:ext cx="551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2단계: </a:t>
            </a:r>
            <a:endParaRPr lang="en-US" sz="1050" dirty="0"/>
          </a:p>
        </p:txBody>
      </p:sp>
      <p:sp>
        <p:nvSpPr>
          <p:cNvPr id="48" name="Text 21"/>
          <p:cNvSpPr/>
          <p:nvPr/>
        </p:nvSpPr>
        <p:spPr>
          <a:xfrm>
            <a:off x="9747052" y="6572250"/>
            <a:ext cx="850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통합</a:t>
            </a:r>
            <a:endParaRPr lang="en-US" sz="1050" dirty="0"/>
          </a:p>
        </p:txBody>
      </p:sp>
      <p:sp>
        <p:nvSpPr>
          <p:cNvPr id="49" name="Text 22"/>
          <p:cNvSpPr/>
          <p:nvPr/>
        </p:nvSpPr>
        <p:spPr>
          <a:xfrm>
            <a:off x="10875318" y="6553200"/>
            <a:ext cx="12142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3단계: AI 고도화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914525"/>
            <a:ext cx="2857500" cy="2857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990600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47800"/>
            <a:ext cx="5715000" cy="1104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002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13" y="16764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1447800"/>
            <a:ext cx="5715000" cy="1104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16002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1676400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2705100"/>
            <a:ext cx="5715000" cy="1104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8575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9337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2705100"/>
            <a:ext cx="5715000" cy="1104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28575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9337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3962400"/>
            <a:ext cx="11582400" cy="8763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41148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075" y="4191000"/>
            <a:ext cx="171450" cy="304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01064" y="6629400"/>
            <a:ext cx="609600" cy="381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3단계 디지털 전환 전략 - 3단계: AI 고도화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619125" y="952500"/>
            <a:ext cx="1158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디지털 전환의 최종 단계는 AI 기술을 활용하여 업무를 자동화하고 지능화합니다.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066800" y="160020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기반 안전 감지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1066800" y="19431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사진/영상 분석을 통해 헬멧, 안전벨트, 화기 작업 위험 등을 자동으로 감지하여 안전 사고를 예방합니다.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6934200" y="160020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기반 장비/인력 배치 추천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6934200" y="19431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과거 데이터와 현재 프로젝트 상황을 분석하여 최적의 장비 및 인력 배치를 추천합니다.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066800" y="285750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스크랩 중량 예측 및 정산 자동화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1066800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영상 기반 AI 분석을 통해 스크랩 중량을 예측하고, 정산 업무를 자동화합니다.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934200" y="285750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예측 정비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6934200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 가동 데이터 분석을 통해 고장 시점을 예측하고, 선제적인 정비를 통해 장비 운영 효율을 극대화합니다.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1066800" y="4114800"/>
            <a:ext cx="56557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공정 지연 예측</a:t>
            </a:r>
            <a:endParaRPr lang="en-US" sz="1500" dirty="0"/>
          </a:p>
        </p:txBody>
      </p:sp>
      <p:sp>
        <p:nvSpPr>
          <p:cNvPr id="33" name="Text 11"/>
          <p:cNvSpPr/>
          <p:nvPr/>
        </p:nvSpPr>
        <p:spPr>
          <a:xfrm>
            <a:off x="1066800" y="4457700"/>
            <a:ext cx="678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모델을 통해 프로젝트 공정 지연을 예측하고, 이에 대한 대응 방안을 제시합니다.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304800" y="6553200"/>
            <a:ext cx="31770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 디지털 전환 컨설팅 보고서 | 6/8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10386864" y="6553200"/>
            <a:ext cx="18004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기반 미래 경쟁력 확보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048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333500"/>
            <a:ext cx="2781300" cy="1219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859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300" y="1333500"/>
            <a:ext cx="2781300" cy="1219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148590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705100"/>
            <a:ext cx="2781300" cy="1219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8575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2300" y="2705100"/>
            <a:ext cx="2781300" cy="1219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4700" y="2857500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" y="4181475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9048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333500"/>
            <a:ext cx="5715000" cy="3886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1333500"/>
            <a:ext cx="5715000" cy="4572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1790700"/>
            <a:ext cx="5715000" cy="685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2476500"/>
            <a:ext cx="5715000" cy="685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3162300"/>
            <a:ext cx="5715000" cy="685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0" y="3848100"/>
            <a:ext cx="5715000" cy="6858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전환 기대효과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533400" y="8763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정량적 기대효과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647700" y="1485900"/>
            <a:ext cx="1377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사고 위험 감소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381000" y="1828800"/>
            <a:ext cx="297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20~40%</a:t>
            </a:r>
            <a:endParaRPr lang="en-US" sz="2250" dirty="0"/>
          </a:p>
        </p:txBody>
      </p:sp>
      <p:sp>
        <p:nvSpPr>
          <p:cNvPr id="25" name="Text 4"/>
          <p:cNvSpPr/>
          <p:nvPr/>
        </p:nvSpPr>
        <p:spPr>
          <a:xfrm>
            <a:off x="381000" y="21717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감소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3629025" y="1485900"/>
            <a:ext cx="1583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 운영비 절감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3314700" y="1828800"/>
            <a:ext cx="297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B82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10~20%</a:t>
            </a:r>
            <a:endParaRPr lang="en-US" sz="2250" dirty="0"/>
          </a:p>
        </p:txBody>
      </p:sp>
      <p:sp>
        <p:nvSpPr>
          <p:cNvPr id="28" name="Text 7"/>
          <p:cNvSpPr/>
          <p:nvPr/>
        </p:nvSpPr>
        <p:spPr>
          <a:xfrm>
            <a:off x="3314700" y="21717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절감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47700" y="2857500"/>
            <a:ext cx="1583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보고 업무 자동화</a:t>
            </a:r>
            <a:endParaRPr lang="en-US" sz="1350" dirty="0"/>
          </a:p>
        </p:txBody>
      </p:sp>
      <p:sp>
        <p:nvSpPr>
          <p:cNvPr id="30" name="Text 9"/>
          <p:cNvSpPr/>
          <p:nvPr/>
        </p:nvSpPr>
        <p:spPr>
          <a:xfrm>
            <a:off x="381000" y="32004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2C55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50%+</a:t>
            </a:r>
            <a:endParaRPr lang="en-US" sz="2250" dirty="0"/>
          </a:p>
        </p:txBody>
      </p:sp>
      <p:sp>
        <p:nvSpPr>
          <p:cNvPr id="31" name="Text 10"/>
          <p:cNvSpPr/>
          <p:nvPr/>
        </p:nvSpPr>
        <p:spPr>
          <a:xfrm>
            <a:off x="381000" y="35433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자동화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3629025" y="2857500"/>
            <a:ext cx="1583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고객 신뢰도 상승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3314700" y="3200400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AB30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대기업 공사 대응</a:t>
            </a:r>
            <a:endParaRPr lang="en-US" sz="1350" dirty="0"/>
          </a:p>
        </p:txBody>
      </p:sp>
      <p:sp>
        <p:nvSpPr>
          <p:cNvPr id="34" name="Text 13"/>
          <p:cNvSpPr/>
          <p:nvPr/>
        </p:nvSpPr>
        <p:spPr>
          <a:xfrm>
            <a:off x="3314700" y="34671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속도 및 신뢰도 향상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533400" y="41529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업무 프로세스 혁신</a:t>
            </a:r>
            <a:endParaRPr lang="en-US" sz="1800" dirty="0"/>
          </a:p>
        </p:txBody>
      </p:sp>
      <p:sp>
        <p:nvSpPr>
          <p:cNvPr id="36" name="Text 15"/>
          <p:cNvSpPr/>
          <p:nvPr/>
        </p:nvSpPr>
        <p:spPr>
          <a:xfrm>
            <a:off x="228600" y="45720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전환을 통해 기존의 수동적이고 비효율적인 업무 방식에서 벗어나,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228600" y="49149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자동화되고 통합된 시스템을 통해 생산성과 효율성을 극대화할 수 있습니다.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6553200" y="8763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전환 전후 업무 프로세스 비교</a:t>
            </a:r>
            <a:endParaRPr lang="en-US" sz="1800" dirty="0"/>
          </a:p>
        </p:txBody>
      </p:sp>
      <p:sp>
        <p:nvSpPr>
          <p:cNvPr id="39" name="Text 18"/>
          <p:cNvSpPr/>
          <p:nvPr/>
        </p:nvSpPr>
        <p:spPr>
          <a:xfrm>
            <a:off x="6400800" y="1333500"/>
            <a:ext cx="1034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업무 영역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7435602" y="1333500"/>
            <a:ext cx="21617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Before</a:t>
            </a:r>
            <a:endParaRPr lang="en-US" sz="1200" dirty="0"/>
          </a:p>
        </p:txBody>
      </p:sp>
      <p:sp>
        <p:nvSpPr>
          <p:cNvPr id="41" name="Text 20"/>
          <p:cNvSpPr/>
          <p:nvPr/>
        </p:nvSpPr>
        <p:spPr>
          <a:xfrm>
            <a:off x="9597330" y="1333500"/>
            <a:ext cx="2518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6400800" y="1790700"/>
            <a:ext cx="1034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 착수</a:t>
            </a:r>
            <a:endParaRPr lang="en-US" sz="1200" dirty="0"/>
          </a:p>
        </p:txBody>
      </p:sp>
      <p:sp>
        <p:nvSpPr>
          <p:cNvPr id="43" name="Text 22"/>
          <p:cNvSpPr/>
          <p:nvPr/>
        </p:nvSpPr>
        <p:spPr>
          <a:xfrm>
            <a:off x="7435602" y="1790700"/>
            <a:ext cx="21617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문서 수기 작성 및 개별 관리</a:t>
            </a:r>
            <a:endParaRPr lang="en-US" sz="1200" dirty="0"/>
          </a:p>
        </p:txBody>
      </p:sp>
      <p:sp>
        <p:nvSpPr>
          <p:cNvPr id="44" name="Text 23"/>
          <p:cNvSpPr/>
          <p:nvPr/>
        </p:nvSpPr>
        <p:spPr>
          <a:xfrm>
            <a:off x="9597330" y="1790700"/>
            <a:ext cx="2518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자동 생성된 해체 계획서 및 자원 자동 배정</a:t>
            </a:r>
            <a:endParaRPr lang="en-US" sz="1200" dirty="0"/>
          </a:p>
        </p:txBody>
      </p:sp>
      <p:sp>
        <p:nvSpPr>
          <p:cNvPr id="45" name="Text 24"/>
          <p:cNvSpPr/>
          <p:nvPr/>
        </p:nvSpPr>
        <p:spPr>
          <a:xfrm>
            <a:off x="6400800" y="2476500"/>
            <a:ext cx="1034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자원 배치</a:t>
            </a:r>
            <a:endParaRPr lang="en-US" sz="1200" dirty="0"/>
          </a:p>
        </p:txBody>
      </p:sp>
      <p:sp>
        <p:nvSpPr>
          <p:cNvPr id="46" name="Text 25"/>
          <p:cNvSpPr/>
          <p:nvPr/>
        </p:nvSpPr>
        <p:spPr>
          <a:xfrm>
            <a:off x="7435602" y="2476500"/>
            <a:ext cx="21617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엑셀 기반 수작업 및 인력 배치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9597330" y="2476500"/>
            <a:ext cx="3022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기반 최적 자원 추천 및 승인</a:t>
            </a:r>
            <a:endParaRPr lang="en-US" sz="1200" dirty="0"/>
          </a:p>
        </p:txBody>
      </p:sp>
      <p:sp>
        <p:nvSpPr>
          <p:cNvPr id="48" name="Text 27"/>
          <p:cNvSpPr/>
          <p:nvPr/>
        </p:nvSpPr>
        <p:spPr>
          <a:xfrm>
            <a:off x="6400800" y="3162300"/>
            <a:ext cx="1034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안전 관리</a:t>
            </a:r>
            <a:endParaRPr lang="en-US" sz="1200" dirty="0"/>
          </a:p>
        </p:txBody>
      </p:sp>
      <p:sp>
        <p:nvSpPr>
          <p:cNvPr id="49" name="Text 28"/>
          <p:cNvSpPr/>
          <p:nvPr/>
        </p:nvSpPr>
        <p:spPr>
          <a:xfrm>
            <a:off x="7435602" y="3162300"/>
            <a:ext cx="21617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종이 체크리스트 및 개별 문서 관리</a:t>
            </a:r>
            <a:endParaRPr lang="en-US" sz="1200" dirty="0"/>
          </a:p>
        </p:txBody>
      </p:sp>
      <p:sp>
        <p:nvSpPr>
          <p:cNvPr id="50" name="Text 29"/>
          <p:cNvSpPr/>
          <p:nvPr/>
        </p:nvSpPr>
        <p:spPr>
          <a:xfrm>
            <a:off x="9597330" y="3162300"/>
            <a:ext cx="2518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앱 입력 및 위험 자동 감지</a:t>
            </a:r>
            <a:endParaRPr lang="en-US" sz="1200" dirty="0"/>
          </a:p>
        </p:txBody>
      </p:sp>
      <p:sp>
        <p:nvSpPr>
          <p:cNvPr id="51" name="Text 30"/>
          <p:cNvSpPr/>
          <p:nvPr/>
        </p:nvSpPr>
        <p:spPr>
          <a:xfrm>
            <a:off x="6400800" y="3848100"/>
            <a:ext cx="1034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현장 보고</a:t>
            </a:r>
            <a:endParaRPr lang="en-US" sz="1200" dirty="0"/>
          </a:p>
        </p:txBody>
      </p:sp>
      <p:sp>
        <p:nvSpPr>
          <p:cNvPr id="52" name="Text 31"/>
          <p:cNvSpPr/>
          <p:nvPr/>
        </p:nvSpPr>
        <p:spPr>
          <a:xfrm>
            <a:off x="7435602" y="3848100"/>
            <a:ext cx="21617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사진 정리 및 문서 수기 작성 반복</a:t>
            </a:r>
            <a:endParaRPr lang="en-US" sz="1200" dirty="0"/>
          </a:p>
        </p:txBody>
      </p:sp>
      <p:sp>
        <p:nvSpPr>
          <p:cNvPr id="53" name="Text 32"/>
          <p:cNvSpPr/>
          <p:nvPr/>
        </p:nvSpPr>
        <p:spPr>
          <a:xfrm>
            <a:off x="9597330" y="3848100"/>
            <a:ext cx="3022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자동 보고서 생성 (PDF)</a:t>
            </a:r>
            <a:endParaRPr lang="en-US" sz="1200" dirty="0"/>
          </a:p>
        </p:txBody>
      </p:sp>
      <p:sp>
        <p:nvSpPr>
          <p:cNvPr id="54" name="Text 33"/>
          <p:cNvSpPr/>
          <p:nvPr/>
        </p:nvSpPr>
        <p:spPr>
          <a:xfrm>
            <a:off x="6400800" y="4533900"/>
            <a:ext cx="1034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스크랩 처리</a:t>
            </a:r>
            <a:endParaRPr lang="en-US" sz="1200" dirty="0"/>
          </a:p>
        </p:txBody>
      </p:sp>
      <p:sp>
        <p:nvSpPr>
          <p:cNvPr id="55" name="Text 34"/>
          <p:cNvSpPr/>
          <p:nvPr/>
        </p:nvSpPr>
        <p:spPr>
          <a:xfrm>
            <a:off x="7435602" y="4533900"/>
            <a:ext cx="25940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수기 중량 기록 및 정산</a:t>
            </a:r>
            <a:endParaRPr lang="en-US" sz="1200" dirty="0"/>
          </a:p>
        </p:txBody>
      </p:sp>
      <p:sp>
        <p:nvSpPr>
          <p:cNvPr id="56" name="Text 35"/>
          <p:cNvSpPr/>
          <p:nvPr/>
        </p:nvSpPr>
        <p:spPr>
          <a:xfrm>
            <a:off x="9597330" y="4533900"/>
            <a:ext cx="2518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영상 기반 자동 분석 및 정산 자동화</a:t>
            </a:r>
            <a:endParaRPr lang="en-US" sz="1200" dirty="0"/>
          </a:p>
        </p:txBody>
      </p:sp>
      <p:sp>
        <p:nvSpPr>
          <p:cNvPr id="57" name="Text 36"/>
          <p:cNvSpPr/>
          <p:nvPr/>
        </p:nvSpPr>
        <p:spPr>
          <a:xfrm>
            <a:off x="304800" y="6553200"/>
            <a:ext cx="1158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 디지털 전환 컨설팅 보고서 | 7/8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81075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409700"/>
            <a:ext cx="6720780" cy="2971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62100"/>
            <a:ext cx="641598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43100"/>
            <a:ext cx="6415980" cy="381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324100"/>
            <a:ext cx="641598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705100"/>
            <a:ext cx="641598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086100"/>
            <a:ext cx="6415980" cy="381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848100"/>
            <a:ext cx="641598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9339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5219700"/>
            <a:ext cx="4524375" cy="914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2780" y="9810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2780" y="1409700"/>
            <a:ext cx="4404271" cy="1104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2780" y="2667000"/>
            <a:ext cx="4404271" cy="1104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2780" y="3924300"/>
            <a:ext cx="4404271" cy="1104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82780" y="5181600"/>
            <a:ext cx="4404271" cy="11049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예산 계획 및 향후 과제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638175" y="952500"/>
            <a:ext cx="67207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구축 예산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609600" y="1562100"/>
            <a:ext cx="4218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구분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4675882" y="1562100"/>
            <a:ext cx="21972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금액 (원)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609600" y="1943100"/>
            <a:ext cx="4218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분석·설계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4236422" y="1943100"/>
            <a:ext cx="2636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30,000,000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609600" y="2324100"/>
            <a:ext cx="4218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개발 (PMS/SMS/자원관리)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4236422" y="2324100"/>
            <a:ext cx="2636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120,000,000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09600" y="2705100"/>
            <a:ext cx="4218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앱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4236422" y="2705100"/>
            <a:ext cx="2636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25,000,000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09600" y="3086100"/>
            <a:ext cx="4218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장비·DB 구축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4236422" y="3086100"/>
            <a:ext cx="2636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10,000,000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609600" y="3467100"/>
            <a:ext cx="4218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기타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4236422" y="3467100"/>
            <a:ext cx="2636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15,000,000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09600" y="3848100"/>
            <a:ext cx="4218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총계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4236422" y="3848100"/>
            <a:ext cx="2636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200,000,000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304800" y="4533900"/>
            <a:ext cx="6720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운영비</a:t>
            </a:r>
            <a:endParaRPr lang="en-US" sz="1500" dirty="0"/>
          </a:p>
        </p:txBody>
      </p:sp>
      <p:sp>
        <p:nvSpPr>
          <p:cNvPr id="36" name="Text 17"/>
          <p:cNvSpPr/>
          <p:nvPr/>
        </p:nvSpPr>
        <p:spPr>
          <a:xfrm>
            <a:off x="533400" y="4876800"/>
            <a:ext cx="43112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연간 30~35백만원 수준 (클라우드+유지보수)</a:t>
            </a:r>
            <a:endParaRPr lang="en-US" sz="1350" dirty="0"/>
          </a:p>
        </p:txBody>
      </p:sp>
      <p:sp>
        <p:nvSpPr>
          <p:cNvPr id="37" name="Text 18"/>
          <p:cNvSpPr/>
          <p:nvPr/>
        </p:nvSpPr>
        <p:spPr>
          <a:xfrm>
            <a:off x="7787580" y="952500"/>
            <a:ext cx="44042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향후 과제</a:t>
            </a:r>
            <a:endParaRPr lang="en-US" sz="1800" dirty="0"/>
          </a:p>
        </p:txBody>
      </p:sp>
      <p:sp>
        <p:nvSpPr>
          <p:cNvPr id="38" name="Text 19"/>
          <p:cNvSpPr/>
          <p:nvPr/>
        </p:nvSpPr>
        <p:spPr>
          <a:xfrm>
            <a:off x="7635180" y="1562100"/>
            <a:ext cx="40994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전환 의식 확산</a:t>
            </a:r>
            <a:endParaRPr lang="en-US" sz="1350" dirty="0"/>
          </a:p>
        </p:txBody>
      </p:sp>
      <p:sp>
        <p:nvSpPr>
          <p:cNvPr id="39" name="Text 20"/>
          <p:cNvSpPr/>
          <p:nvPr/>
        </p:nvSpPr>
        <p:spPr>
          <a:xfrm>
            <a:off x="7635180" y="1905000"/>
            <a:ext cx="40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현재 수작업과 문서 중심의 업무 방식에서 벗어나, 디지털 전환의 필요성을 직원들과 이해 공유해야 합니다.</a:t>
            </a:r>
            <a:endParaRPr lang="en-US" sz="1200" dirty="0"/>
          </a:p>
        </p:txBody>
      </p:sp>
      <p:sp>
        <p:nvSpPr>
          <p:cNvPr id="40" name="Text 21"/>
          <p:cNvSpPr/>
          <p:nvPr/>
        </p:nvSpPr>
        <p:spPr>
          <a:xfrm>
            <a:off x="7635180" y="2819400"/>
            <a:ext cx="40994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통합 및 품질 관리</a:t>
            </a:r>
            <a:endParaRPr lang="en-US" sz="1350" dirty="0"/>
          </a:p>
        </p:txBody>
      </p:sp>
      <p:sp>
        <p:nvSpPr>
          <p:cNvPr id="41" name="Text 22"/>
          <p:cNvSpPr/>
          <p:nvPr/>
        </p:nvSpPr>
        <p:spPr>
          <a:xfrm>
            <a:off x="7635180" y="3162300"/>
            <a:ext cx="40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여러 시스템이 통합되면서 데이터의 일관성과 품질을 유지하기 위한 관리 체계가 필요합니다.</a:t>
            </a:r>
            <a:endParaRPr lang="en-US" sz="1200" dirty="0"/>
          </a:p>
        </p:txBody>
      </p:sp>
      <p:sp>
        <p:nvSpPr>
          <p:cNvPr id="42" name="Text 23"/>
          <p:cNvSpPr/>
          <p:nvPr/>
        </p:nvSpPr>
        <p:spPr>
          <a:xfrm>
            <a:off x="7635180" y="4076700"/>
            <a:ext cx="40994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기술 인력 확보</a:t>
            </a:r>
            <a:endParaRPr lang="en-US" sz="1350" dirty="0"/>
          </a:p>
        </p:txBody>
      </p:sp>
      <p:sp>
        <p:nvSpPr>
          <p:cNvPr id="43" name="Text 24"/>
          <p:cNvSpPr/>
          <p:nvPr/>
        </p:nvSpPr>
        <p:spPr>
          <a:xfrm>
            <a:off x="7635180" y="4419600"/>
            <a:ext cx="40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기반 시스템 개발 및 운영을 위해 적절한 기술 인력을 확보하거나, 기존 인력의 역량을 강화해야 합니다.</a:t>
            </a:r>
            <a:endParaRPr lang="en-US" sz="1200" dirty="0"/>
          </a:p>
        </p:txBody>
      </p:sp>
      <p:sp>
        <p:nvSpPr>
          <p:cNvPr id="44" name="Text 25"/>
          <p:cNvSpPr/>
          <p:nvPr/>
        </p:nvSpPr>
        <p:spPr>
          <a:xfrm>
            <a:off x="7635180" y="5334000"/>
            <a:ext cx="40994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지속적인 시스템 개선</a:t>
            </a:r>
            <a:endParaRPr lang="en-US" sz="1350" dirty="0"/>
          </a:p>
        </p:txBody>
      </p:sp>
      <p:sp>
        <p:nvSpPr>
          <p:cNvPr id="45" name="Text 26"/>
          <p:cNvSpPr/>
          <p:nvPr/>
        </p:nvSpPr>
        <p:spPr>
          <a:xfrm>
            <a:off x="7635180" y="5676900"/>
            <a:ext cx="40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첫 단계의 시스템 도입 후에도 사용자 피드백을 반영하여 지속적으로 시스템을 개선하고 확장해야 합니다.</a:t>
            </a:r>
            <a:endParaRPr lang="en-US" sz="1200" dirty="0"/>
          </a:p>
        </p:txBody>
      </p:sp>
      <p:sp>
        <p:nvSpPr>
          <p:cNvPr id="46" name="Text 27"/>
          <p:cNvSpPr/>
          <p:nvPr/>
        </p:nvSpPr>
        <p:spPr>
          <a:xfrm>
            <a:off x="304800" y="6705600"/>
            <a:ext cx="31770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크로스특수 디지털 전환 컨설팅 보고서 | 8/8</a:t>
            </a:r>
            <a:endParaRPr lang="en-US" sz="1050" dirty="0"/>
          </a:p>
        </p:txBody>
      </p:sp>
      <p:sp>
        <p:nvSpPr>
          <p:cNvPr id="47" name="Text 28"/>
          <p:cNvSpPr/>
          <p:nvPr/>
        </p:nvSpPr>
        <p:spPr>
          <a:xfrm>
            <a:off x="10368796" y="6705600"/>
            <a:ext cx="15184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총 구축 예산: 2억 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2025-12-04T22:44:19Z</dcterms:created>
  <dcterms:modified xsi:type="dcterms:W3CDTF">2025-12-04T22:44:19Z</dcterms:modified>
</cp:coreProperties>
</file>