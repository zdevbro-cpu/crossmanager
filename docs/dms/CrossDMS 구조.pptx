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orient="horz" pos="595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6" orient="horz" pos="3929" userDrawn="1">
          <p15:clr>
            <a:srgbClr val="A4A3A4"/>
          </p15:clr>
        </p15:guide>
        <p15:guide id="7" orient="horz" pos="10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5069"/>
    <a:srgbClr val="4E6D90"/>
    <a:srgbClr val="293A4C"/>
    <a:srgbClr val="3773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1302"/>
      </p:cViewPr>
      <p:guideLst>
        <p:guide orient="horz" pos="2160"/>
        <p:guide pos="3840"/>
        <p:guide pos="438"/>
        <p:guide orient="horz" pos="595"/>
        <p:guide pos="7378"/>
        <p:guide orient="horz" pos="3929"/>
        <p:guide orient="horz" pos="10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431B8-37A6-40E6-8523-FCF973D0B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951F33-CC19-43B3-BB83-E160A84E4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DD678-EEAB-46B2-B078-C396D91F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7F333-3AF9-40E7-835D-B1CAE5B6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054994-93EC-4C96-B0FF-2DB8B707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14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3E666-0C65-46C2-84ED-A0E0DBFF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14F8FF-4688-40BE-A7B3-642DF75F9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1C9D2-6B96-4A6E-B977-35ED740E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A1486A-910E-488F-9295-AC21E883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E53982-E134-4792-83BF-975BE45F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9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493A2-516B-4E09-9558-10183EA4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86B236-9726-4B81-9134-6C9A1FD74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D52A3F-1763-4641-AA4A-EB9CED55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45140-1D8A-476B-8A01-E0990A94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935811-70B7-4BC4-9998-20113782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93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5A2BC-AF3C-4056-972A-E9ECB35E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10F76-03A5-4700-8458-863231B68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0FCA4A-191C-4D77-9377-AFA437507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D8A56-0DB4-49A1-A6AA-E53B5808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39FA5C-C63F-4E5E-A3D7-5A981C17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9EA769-5FA2-49F1-A3D9-2F5FFA0C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074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F40D9-4FAE-478C-9C22-C8A4F63B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A20EFA-D9A2-4FF3-B4F0-38AB8D1D4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5A563A-1C3E-423C-9ECE-B1DB8B2BE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AC5D9F-B0B9-4F68-93AF-F71969153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D47B1C-45F9-4834-AE6B-CDF1D76C0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E774E7-E269-4784-B696-2D0D8A189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BEDEFF-5C38-4030-86BC-41DC1B5D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9ED8B9-9042-4490-BD4C-52FD41E9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783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07F35-41B4-4CBB-8C5F-52E7450E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DE7C62-23E8-48DF-8857-3077E976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C8EB03-03D1-449E-B75F-AF8D4454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A8A9EA-A9C3-4A48-9D11-2DDD5C25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00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F81818-EA6D-4817-9FA5-3D4F26B97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5450A4-4AF0-4F92-9ED4-E7D29294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B8AE3A-D781-48FC-A809-F498B459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5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D6CA5-F8D8-4E2A-BC91-15310660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F8B5E-8D14-44F2-B1D8-36A01B5A3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B35BDA-9DD2-412E-A0B7-7742128BF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1368D1-ECBD-41BC-B084-53742BC2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F2A632-C2EE-40E2-A9AF-8510EDF2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02B7D6-A4B7-4CBF-B67C-5C65297D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74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F62CC-707D-4BD5-B1A9-C12F8C49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79496A-6457-4B63-901F-C853F401C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A4E57F-7233-4AFE-96CD-851C5E3CD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F6EEEC-DB23-4CEF-8B32-846BE721C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4D9B5-7B3F-4F42-BB6C-74390ED6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CC4D80-4418-4408-B4AA-691E7D39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0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400920-66FE-47D6-BD24-FDEFF737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47531-4F94-4297-A1F7-C6AE4EA83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045FD-1462-4CD8-AA62-5D80D0E36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D1350E-CB41-4AA5-ACA6-1FEDDCF6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7BB7D0-8EBD-4DA9-BB00-A7CB86D9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68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C9AEAD-E073-4BB9-88A6-DE4DF205F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859475-1794-4CE5-B4E5-FC86C945C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650812-6B18-4677-91AC-C8C85F95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0C7F2D-7AC9-456F-A069-4DE662C1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DA09DC-6BFE-40F6-9715-D1B42B26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01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B958B58-5804-4323-92A6-7F915177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C49DE3-B764-4CF6-B4C2-FCED1C719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24A3F5-EA1F-45E2-A527-A0348E1C2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5C465-6DFA-4729-8317-EEFD375B4497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3B8B3F-B624-4585-B881-66DB70145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E7E84-DFA5-47F0-B793-007E10CC3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4E076-F592-40DF-A932-31793F271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50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810998-1175-4C81-85A7-0A992BE8587D}"/>
              </a:ext>
            </a:extLst>
          </p:cNvPr>
          <p:cNvSpPr txBox="1"/>
          <p:nvPr/>
        </p:nvSpPr>
        <p:spPr>
          <a:xfrm>
            <a:off x="704676" y="1325460"/>
            <a:ext cx="1046709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Cross-DMA(</a:t>
            </a:r>
            <a:r>
              <a:rPr lang="ko-KR" altLang="en-US" sz="66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문서관리시스템</a:t>
            </a:r>
            <a:r>
              <a:rPr lang="en-US" altLang="ko-KR" sz="66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br>
              <a:rPr lang="en-US" altLang="ko-KR" sz="66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</a:br>
            <a:r>
              <a:rPr lang="ko-KR" altLang="en-US" sz="66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문서표준화</a:t>
            </a:r>
            <a:r>
              <a:rPr lang="en-US" altLang="ko-KR" sz="66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66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안</a:t>
            </a:r>
            <a:r>
              <a:rPr lang="en-US" altLang="ko-KR" sz="66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endParaRPr lang="ko-KR" altLang="en-US" sz="66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6682DCB-C8CC-4AB0-AF94-6048DB5EBEAF}"/>
              </a:ext>
            </a:extLst>
          </p:cNvPr>
          <p:cNvCxnSpPr/>
          <p:nvPr/>
        </p:nvCxnSpPr>
        <p:spPr>
          <a:xfrm>
            <a:off x="704676" y="3443650"/>
            <a:ext cx="7004807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11E861-BEEF-4C9F-9E4B-CF7958D5F319}"/>
              </a:ext>
            </a:extLst>
          </p:cNvPr>
          <p:cNvSpPr txBox="1"/>
          <p:nvPr/>
        </p:nvSpPr>
        <p:spPr>
          <a:xfrm>
            <a:off x="9679711" y="5092391"/>
            <a:ext cx="1385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2026.01</a:t>
            </a:r>
            <a:endParaRPr lang="ko-KR" altLang="en-US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6631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87563E-5D5E-4788-BAD0-5A45AEF4EB63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현장데이터 분석 및 구조화 방향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FF5D5C1-C3C2-46E1-B4A1-2F7910C186D3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E23CD9FE-ABC7-4C2E-BB88-200E634F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10" y="1666981"/>
            <a:ext cx="5097191" cy="28481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AFC820F-0657-4802-BDF3-9EDC512FA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66981"/>
            <a:ext cx="5311775" cy="28481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3B52E6-F8F9-4EEB-8D2C-F4500E967488}"/>
              </a:ext>
            </a:extLst>
          </p:cNvPr>
          <p:cNvSpPr txBox="1"/>
          <p:nvPr/>
        </p:nvSpPr>
        <p:spPr>
          <a:xfrm>
            <a:off x="694011" y="1030602"/>
            <a:ext cx="540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As-Is</a:t>
            </a:r>
            <a:endParaRPr lang="ko-KR" altLang="en-US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7F5625-A0ED-4759-A9E1-C79A28DA6ABB}"/>
              </a:ext>
            </a:extLst>
          </p:cNvPr>
          <p:cNvSpPr txBox="1"/>
          <p:nvPr/>
        </p:nvSpPr>
        <p:spPr>
          <a:xfrm>
            <a:off x="6095999" y="1030602"/>
            <a:ext cx="540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To-Be</a:t>
            </a:r>
            <a:endParaRPr lang="ko-KR" altLang="en-US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86301-C008-433B-9941-45F46C6671B4}"/>
              </a:ext>
            </a:extLst>
          </p:cNvPr>
          <p:cNvSpPr txBox="1"/>
          <p:nvPr/>
        </p:nvSpPr>
        <p:spPr>
          <a:xfrm>
            <a:off x="694011" y="4774339"/>
            <a:ext cx="54019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비표준 폴더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구조 및 명칭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검색 시간 지연으로 인한 업무 비효율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재활용성 저하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감사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(Audit)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대응 어려움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B9C4F7-3EB5-4AFE-8BBF-36187D198D41}"/>
              </a:ext>
            </a:extLst>
          </p:cNvPr>
          <p:cNvSpPr txBox="1"/>
          <p:nvPr/>
        </p:nvSpPr>
        <p:spPr>
          <a:xfrm>
            <a:off x="6096000" y="4774339"/>
            <a:ext cx="54019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5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대 핵심 카테고리 표준화 적용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번호체계 도입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폴더 구조 고정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필요서류 직관적 즉시 검색</a:t>
            </a:r>
            <a:b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</a:br>
            <a:endParaRPr lang="ko-KR" altLang="en-US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152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106B47-C46D-46E8-8364-0B3A5E413317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분류체계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44BF506-2F89-4CCF-A769-D1896BA4C893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E7E26843-334F-4AFB-B1CE-0E77175A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30" y="1182841"/>
            <a:ext cx="11246255" cy="425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9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1DE86E-3413-49DB-AE47-5A2FB63CC9ED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Category -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공무 및 행정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D1134D-C359-46A2-9A43-662612019517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C9764ECF-DF43-41AC-AA9D-6E3DCE326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939" y="1675471"/>
            <a:ext cx="5393635" cy="3586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E2FAEB-66C4-4315-8EBC-BA14DCB6AB18}"/>
              </a:ext>
            </a:extLst>
          </p:cNvPr>
          <p:cNvSpPr txBox="1"/>
          <p:nvPr/>
        </p:nvSpPr>
        <p:spPr>
          <a:xfrm>
            <a:off x="701550" y="1680438"/>
            <a:ext cx="54019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현장 운영의 기초가 되는 계약 및 인력 데이터 관리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민감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개인정보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비용관련 서류 중앙화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보안 강화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446BA-3580-4F89-A3DC-E2DA57F49A37}"/>
              </a:ext>
            </a:extLst>
          </p:cNvPr>
          <p:cNvSpPr txBox="1"/>
          <p:nvPr/>
        </p:nvSpPr>
        <p:spPr>
          <a:xfrm>
            <a:off x="701550" y="3429000"/>
            <a:ext cx="540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395069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Key Items :</a:t>
            </a:r>
            <a:endParaRPr lang="ko-KR" altLang="en-US" sz="2400" dirty="0">
              <a:solidFill>
                <a:srgbClr val="395069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46294-1B8A-4FC0-A4C5-BA1A78DA2096}"/>
              </a:ext>
            </a:extLst>
          </p:cNvPr>
          <p:cNvSpPr txBox="1"/>
          <p:nvPr/>
        </p:nvSpPr>
        <p:spPr>
          <a:xfrm>
            <a:off x="701550" y="3930325"/>
            <a:ext cx="5401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계약서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사업자등록증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투입인원명단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자격증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개인정보제공 및 활용동의서 등</a:t>
            </a:r>
          </a:p>
        </p:txBody>
      </p:sp>
    </p:spTree>
    <p:extLst>
      <p:ext uri="{BB962C8B-B14F-4D97-AF65-F5344CB8AC3E}">
        <p14:creationId xmlns:p14="http://schemas.microsoft.com/office/powerpoint/2010/main" val="3036218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1DE86E-3413-49DB-AE47-5A2FB63CC9ED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Category -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안전 및 보건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(Part I)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D1134D-C359-46A2-9A43-662612019517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E2FAEB-66C4-4315-8EBC-BA14DCB6AB18}"/>
              </a:ext>
            </a:extLst>
          </p:cNvPr>
          <p:cNvSpPr txBox="1"/>
          <p:nvPr/>
        </p:nvSpPr>
        <p:spPr>
          <a:xfrm>
            <a:off x="701550" y="1680438"/>
            <a:ext cx="5401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계획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(Plan)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과 평가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(Assessment)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변하지 않는 규정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’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과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변경되는 평가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’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로 구분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446BA-3580-4F89-A3DC-E2DA57F49A37}"/>
              </a:ext>
            </a:extLst>
          </p:cNvPr>
          <p:cNvSpPr txBox="1"/>
          <p:nvPr/>
        </p:nvSpPr>
        <p:spPr>
          <a:xfrm>
            <a:off x="701550" y="3429000"/>
            <a:ext cx="540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395069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Key Items :</a:t>
            </a:r>
            <a:endParaRPr lang="ko-KR" altLang="en-US" sz="2400" dirty="0">
              <a:solidFill>
                <a:srgbClr val="395069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46294-1B8A-4FC0-A4C5-BA1A78DA2096}"/>
              </a:ext>
            </a:extLst>
          </p:cNvPr>
          <p:cNvSpPr txBox="1"/>
          <p:nvPr/>
        </p:nvSpPr>
        <p:spPr>
          <a:xfrm>
            <a:off x="701550" y="3930325"/>
            <a:ext cx="5401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안전관리계획서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SOP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위험성평가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최초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정기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수시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DSP(</a:t>
            </a: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일일위험성평가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endParaRPr lang="ko-KR" altLang="en-US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99FA24-3B0E-4F6F-8FB5-D6EC14124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541" y="1677468"/>
            <a:ext cx="5685064" cy="326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86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DCAF25C-5AC9-4B71-AB05-434E66ADF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388" y="1676734"/>
            <a:ext cx="5616575" cy="42710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DE86E-3413-49DB-AE47-5A2FB63CC9ED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Category -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안전 및 보건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(Part II)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D1134D-C359-46A2-9A43-662612019517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E2FAEB-66C4-4315-8EBC-BA14DCB6AB18}"/>
              </a:ext>
            </a:extLst>
          </p:cNvPr>
          <p:cNvSpPr txBox="1"/>
          <p:nvPr/>
        </p:nvSpPr>
        <p:spPr>
          <a:xfrm>
            <a:off x="701550" y="1680438"/>
            <a:ext cx="5401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교육 및 점검기록 관리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TBM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로그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연도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월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폴더로 분류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검색효율 증대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446BA-3580-4F89-A3DC-E2DA57F49A37}"/>
              </a:ext>
            </a:extLst>
          </p:cNvPr>
          <p:cNvSpPr txBox="1"/>
          <p:nvPr/>
        </p:nvSpPr>
        <p:spPr>
          <a:xfrm>
            <a:off x="701550" y="3429000"/>
            <a:ext cx="540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395069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Key Items :</a:t>
            </a:r>
            <a:endParaRPr lang="ko-KR" altLang="en-US" sz="2400" dirty="0">
              <a:solidFill>
                <a:srgbClr val="395069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46294-1B8A-4FC0-A4C5-BA1A78DA2096}"/>
              </a:ext>
            </a:extLst>
          </p:cNvPr>
          <p:cNvSpPr txBox="1"/>
          <p:nvPr/>
        </p:nvSpPr>
        <p:spPr>
          <a:xfrm>
            <a:off x="701550" y="3930325"/>
            <a:ext cx="5401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TBM(Tool Box Meeting)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특별안전교육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합동점검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테마점검</a:t>
            </a:r>
          </a:p>
        </p:txBody>
      </p:sp>
    </p:spTree>
    <p:extLst>
      <p:ext uri="{BB962C8B-B14F-4D97-AF65-F5344CB8AC3E}">
        <p14:creationId xmlns:p14="http://schemas.microsoft.com/office/powerpoint/2010/main" val="2856105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1DE86E-3413-49DB-AE47-5A2FB63CC9ED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Category -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공사 및 작업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(Construction)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D1134D-C359-46A2-9A43-662612019517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E2FAEB-66C4-4315-8EBC-BA14DCB6AB18}"/>
              </a:ext>
            </a:extLst>
          </p:cNvPr>
          <p:cNvSpPr txBox="1"/>
          <p:nvPr/>
        </p:nvSpPr>
        <p:spPr>
          <a:xfrm>
            <a:off x="701550" y="1680438"/>
            <a:ext cx="5401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기술문서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작업계획서와 허가서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직관적 연결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446BA-3580-4F89-A3DC-E2DA57F49A37}"/>
              </a:ext>
            </a:extLst>
          </p:cNvPr>
          <p:cNvSpPr txBox="1"/>
          <p:nvPr/>
        </p:nvSpPr>
        <p:spPr>
          <a:xfrm>
            <a:off x="701550" y="3429000"/>
            <a:ext cx="540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395069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Key Items :</a:t>
            </a:r>
            <a:endParaRPr lang="ko-KR" altLang="en-US" sz="2400" dirty="0">
              <a:solidFill>
                <a:srgbClr val="395069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46294-1B8A-4FC0-A4C5-BA1A78DA2096}"/>
              </a:ext>
            </a:extLst>
          </p:cNvPr>
          <p:cNvSpPr txBox="1"/>
          <p:nvPr/>
        </p:nvSpPr>
        <p:spPr>
          <a:xfrm>
            <a:off x="701550" y="3930325"/>
            <a:ext cx="5401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작업계획서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철거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양중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작업허가서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화기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밀폐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도면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시방서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NCR</a:t>
            </a:r>
            <a:endParaRPr lang="ko-KR" altLang="en-US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C373BE-F557-406B-AAB3-C0FF4F24F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17" y="1676221"/>
            <a:ext cx="5612112" cy="305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61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C93A770-DDDB-4D74-B245-5E075C2CD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163" y="1673678"/>
            <a:ext cx="5607412" cy="3429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DE86E-3413-49DB-AE47-5A2FB63CC9ED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Category -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장비 및 </a:t>
            </a:r>
            <a:r>
              <a:rPr lang="ko-KR" altLang="en-US" sz="32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공도구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(Equipment)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D1134D-C359-46A2-9A43-662612019517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E2FAEB-66C4-4315-8EBC-BA14DCB6AB18}"/>
              </a:ext>
            </a:extLst>
          </p:cNvPr>
          <p:cNvSpPr txBox="1"/>
          <p:nvPr/>
        </p:nvSpPr>
        <p:spPr>
          <a:xfrm>
            <a:off x="701550" y="1680438"/>
            <a:ext cx="5401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장비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반입승인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서류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일일점검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’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기록 분리하여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446BA-3580-4F89-A3DC-E2DA57F49A37}"/>
              </a:ext>
            </a:extLst>
          </p:cNvPr>
          <p:cNvSpPr txBox="1"/>
          <p:nvPr/>
        </p:nvSpPr>
        <p:spPr>
          <a:xfrm>
            <a:off x="701550" y="3429000"/>
            <a:ext cx="540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395069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Key Items :</a:t>
            </a:r>
            <a:endParaRPr lang="ko-KR" altLang="en-US" sz="2400" dirty="0">
              <a:solidFill>
                <a:srgbClr val="395069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46294-1B8A-4FC0-A4C5-BA1A78DA2096}"/>
              </a:ext>
            </a:extLst>
          </p:cNvPr>
          <p:cNvSpPr txBox="1"/>
          <p:nvPr/>
        </p:nvSpPr>
        <p:spPr>
          <a:xfrm>
            <a:off x="701550" y="3930325"/>
            <a:ext cx="5401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장비 등록증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보험증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일일장비점검표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공도구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전동공구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점검표</a:t>
            </a:r>
            <a:endParaRPr lang="ko-KR" altLang="en-US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209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C18B6B-0812-46DC-9567-5C6693F31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523" y="1677055"/>
            <a:ext cx="5604052" cy="3836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DE86E-3413-49DB-AE47-5A2FB63CC9ED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Category -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기록 및 자료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(Archives)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D1134D-C359-46A2-9A43-662612019517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E2FAEB-66C4-4315-8EBC-BA14DCB6AB18}"/>
              </a:ext>
            </a:extLst>
          </p:cNvPr>
          <p:cNvSpPr txBox="1"/>
          <p:nvPr/>
        </p:nvSpPr>
        <p:spPr>
          <a:xfrm>
            <a:off x="701550" y="1680438"/>
            <a:ext cx="5401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현장 사진과 참고 자료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작업 폴더에 산재된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</a:t>
            </a:r>
            <a:r>
              <a:rPr lang="en-US" altLang="ko-KR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KakaoTalk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’      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이미지 통합관리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446BA-3580-4F89-A3DC-E2DA57F49A37}"/>
              </a:ext>
            </a:extLst>
          </p:cNvPr>
          <p:cNvSpPr txBox="1"/>
          <p:nvPr/>
        </p:nvSpPr>
        <p:spPr>
          <a:xfrm>
            <a:off x="701550" y="3429000"/>
            <a:ext cx="540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395069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Key Items :</a:t>
            </a:r>
            <a:endParaRPr lang="ko-KR" altLang="en-US" sz="2400" dirty="0">
              <a:solidFill>
                <a:srgbClr val="395069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46294-1B8A-4FC0-A4C5-BA1A78DA2096}"/>
              </a:ext>
            </a:extLst>
          </p:cNvPr>
          <p:cNvSpPr txBox="1"/>
          <p:nvPr/>
        </p:nvSpPr>
        <p:spPr>
          <a:xfrm>
            <a:off x="701550" y="3930325"/>
            <a:ext cx="54019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현장 전경 사진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공사 전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중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호 사진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법령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KOSHA Guide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아이콘 등</a:t>
            </a:r>
          </a:p>
        </p:txBody>
      </p:sp>
    </p:spTree>
    <p:extLst>
      <p:ext uri="{BB962C8B-B14F-4D97-AF65-F5344CB8AC3E}">
        <p14:creationId xmlns:p14="http://schemas.microsoft.com/office/powerpoint/2010/main" val="3783858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1DE86E-3413-49DB-AE47-5A2FB63CC9ED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파일 명명 규칙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(Naming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Convention)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D1134D-C359-46A2-9A43-662612019517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E2FAEB-66C4-4315-8EBC-BA14DCB6AB18}"/>
              </a:ext>
            </a:extLst>
          </p:cNvPr>
          <p:cNvSpPr txBox="1"/>
          <p:nvPr/>
        </p:nvSpPr>
        <p:spPr>
          <a:xfrm>
            <a:off x="701550" y="1680438"/>
            <a:ext cx="54019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비표준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‘KakaoTalk_20251016_1234.jpg’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새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Microsoft Excel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워크시트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.xlsx’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안전점검표 최종 진짜 최종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.pdf’</a:t>
            </a:r>
            <a:endParaRPr lang="ko-KR" altLang="en-US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D8F52-5D9C-47E9-B3E1-0E58E3CBDF2E}"/>
              </a:ext>
            </a:extLst>
          </p:cNvPr>
          <p:cNvSpPr txBox="1"/>
          <p:nvPr/>
        </p:nvSpPr>
        <p:spPr>
          <a:xfrm>
            <a:off x="6103539" y="1680438"/>
            <a:ext cx="5741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[YYMMDD]_[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분류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]_[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내용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]_[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버전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‘251016_SR5_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변압기반출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_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현장사진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.jpg’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‘251119_08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굴착기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_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일일점검표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.xlsx’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‘251201_TBM_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일지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_v01.pdf’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B11A3B-AC63-489A-A687-6542CF382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50" y="1119022"/>
            <a:ext cx="566826" cy="55803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A1BA3E2-BB21-453C-B93A-E07C6ACA1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19022"/>
            <a:ext cx="564727" cy="5580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5D030F-C570-4256-BD11-EBFEABE9371C}"/>
              </a:ext>
            </a:extLst>
          </p:cNvPr>
          <p:cNvSpPr txBox="1"/>
          <p:nvPr/>
        </p:nvSpPr>
        <p:spPr>
          <a:xfrm>
            <a:off x="2773370" y="3995423"/>
            <a:ext cx="6664244" cy="1569660"/>
          </a:xfrm>
          <a:prstGeom prst="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7030A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표준 분류체계에 따른 시스템 구축</a:t>
            </a:r>
            <a:br>
              <a:rPr lang="en-US" altLang="ko-KR" sz="2400" dirty="0">
                <a:solidFill>
                  <a:srgbClr val="7030A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</a:br>
            <a:r>
              <a:rPr lang="en-US" altLang="ko-KR" sz="2400" dirty="0">
                <a:solidFill>
                  <a:srgbClr val="7030A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>
                <a:solidFill>
                  <a:srgbClr val="7030A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폴더구조</a:t>
            </a:r>
            <a:r>
              <a:rPr lang="en-US" altLang="ko-KR" sz="2400" dirty="0">
                <a:solidFill>
                  <a:srgbClr val="7030A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7030A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파일명 규칙 확정</a:t>
            </a:r>
            <a:r>
              <a:rPr lang="en-US" altLang="ko-KR" sz="2400" dirty="0">
                <a:solidFill>
                  <a:srgbClr val="7030A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7030A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시범현장 적용 및 피드백</a:t>
            </a:r>
            <a:endParaRPr lang="en-US" altLang="ko-KR" sz="2400" dirty="0">
              <a:solidFill>
                <a:srgbClr val="7030A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7030A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사용자교육 및 전사 확산</a:t>
            </a:r>
            <a:endParaRPr lang="en-US" altLang="ko-KR" sz="2400" dirty="0">
              <a:solidFill>
                <a:srgbClr val="7030A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398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371</Words>
  <Application>Microsoft Office PowerPoint</Application>
  <PresentationFormat>와이드스크린</PresentationFormat>
  <Paragraphs>71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Rix모던고딕 EB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두찬</dc:creator>
  <cp:lastModifiedBy>두찬</cp:lastModifiedBy>
  <cp:revision>10</cp:revision>
  <dcterms:created xsi:type="dcterms:W3CDTF">2026-01-17T01:34:17Z</dcterms:created>
  <dcterms:modified xsi:type="dcterms:W3CDTF">2026-01-17T02:45:40Z</dcterms:modified>
</cp:coreProperties>
</file>