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04173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크로스특수(주) 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280190" y="3842623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디지털 전환 전략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280190" y="5030510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해체·철거 전문 기업의 완전한 디지털 혁신을 위한 종합 로드맵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05952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디지털 전환의 필요성</a:t>
            </a:r>
            <a:endParaRPr lang="en-US" sz="5100" dirty="0"/>
          </a:p>
        </p:txBody>
      </p:sp>
      <p:sp>
        <p:nvSpPr>
          <p:cNvPr id="4" name="Shape 1"/>
          <p:cNvSpPr/>
          <p:nvPr/>
        </p:nvSpPr>
        <p:spPr>
          <a:xfrm>
            <a:off x="6280190" y="3093839"/>
            <a:ext cx="3664744" cy="1648897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9864" y="3343513"/>
            <a:ext cx="316539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비효율 해소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6529864" y="3903464"/>
            <a:ext cx="316539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엑셀 기반 수기 관리로 인한 오류와 중복 작업 제거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093839"/>
            <a:ext cx="3664863" cy="1648897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1422" y="3343513"/>
            <a:ext cx="316551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안전 강화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421422" y="3903464"/>
            <a:ext cx="31655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표준화된 안전관리 프로세스로 현장 위험도 감소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69550"/>
            <a:ext cx="7556421" cy="1354098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9864" y="521922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자동화 구축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529864" y="5779175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장비·인력 배치 및 문서 작성의 완전 자동화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3863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시스템 구축 범위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793790" y="374856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핵심 시스템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93790" y="4399240"/>
            <a:ext cx="35015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프로젝트 관리 시스템(PMS)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73335"/>
            <a:ext cx="35015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안전관리 시스템(SMS)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47429"/>
            <a:ext cx="35015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장비·인력·스크랩 관리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521523"/>
            <a:ext cx="35015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전자문서 결재 시스템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74856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지원 인프라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4856321" y="4399240"/>
            <a:ext cx="35015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클라우드 협업 환경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773335"/>
            <a:ext cx="35015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모바일 현장 앱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5147429"/>
            <a:ext cx="35015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통합 데이터베이스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521523"/>
            <a:ext cx="35015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보안 및 백업 체계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890" y="358140"/>
            <a:ext cx="3744992" cy="486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구축 예산 계획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5890" y="1170503"/>
            <a:ext cx="677787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2억원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2908578" y="1763078"/>
            <a:ext cx="1872496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초기 구축비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5890" y="2084546"/>
            <a:ext cx="6777871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분석·설계부터 시스템 개발, 테스트, 교육까지 포함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96520" y="1170503"/>
            <a:ext cx="6777990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3,500만원</a:t>
            </a:r>
            <a:endParaRPr lang="en-US" sz="3350" dirty="0"/>
          </a:p>
        </p:txBody>
      </p:sp>
      <p:sp>
        <p:nvSpPr>
          <p:cNvPr id="7" name="Text 5"/>
          <p:cNvSpPr/>
          <p:nvPr/>
        </p:nvSpPr>
        <p:spPr>
          <a:xfrm>
            <a:off x="9849207" y="1763078"/>
            <a:ext cx="1872496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연간 운영비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96520" y="2084546"/>
            <a:ext cx="6777990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클라우드 구독, 유지보수, 기술지원 SLA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890" y="2400300"/>
            <a:ext cx="13718619" cy="7682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42016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프로젝트 관리 시스템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280190" y="3029902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396258"/>
            <a:ext cx="3664744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357056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일정·공정 관리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280190" y="4130516"/>
            <a:ext cx="366474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간트차트 기반 실시간 진행률 추적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171748" y="3029902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3396258"/>
            <a:ext cx="3664863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7"/>
          <p:cNvSpPr/>
          <p:nvPr/>
        </p:nvSpPr>
        <p:spPr>
          <a:xfrm>
            <a:off x="10171748" y="357056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자원 배정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171748" y="4130516"/>
            <a:ext cx="366486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장비와 인력의 최적 배치 자동화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4822150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188506"/>
            <a:ext cx="7556421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1"/>
          <p:cNvSpPr/>
          <p:nvPr/>
        </p:nvSpPr>
        <p:spPr>
          <a:xfrm>
            <a:off x="6280190" y="536281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보고서 생성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6280190" y="5922764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고객사별 템플릿 자동 적용 및 생성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301" y="544711"/>
            <a:ext cx="5695712" cy="7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안전관리 시스템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93301" y="1804988"/>
            <a:ext cx="7752874" cy="1267420"/>
          </a:xfrm>
          <a:prstGeom prst="roundRect">
            <a:avLst>
              <a:gd name="adj" fmla="val 8658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0441" y="1804988"/>
            <a:ext cx="91440" cy="1267420"/>
          </a:xfrm>
          <a:prstGeom prst="roundRect">
            <a:avLst>
              <a:gd name="adj" fmla="val 90998"/>
            </a:avLst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982742" y="2025848"/>
            <a:ext cx="284785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위험성 평가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2742" y="2594015"/>
            <a:ext cx="7242572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자동화 템플릿 기반 체계적 평가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93301" y="3270409"/>
            <a:ext cx="7752874" cy="1267420"/>
          </a:xfrm>
          <a:prstGeom prst="roundRect">
            <a:avLst>
              <a:gd name="adj" fmla="val 8658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0441" y="3270409"/>
            <a:ext cx="91440" cy="1267420"/>
          </a:xfrm>
          <a:prstGeom prst="roundRect">
            <a:avLst>
              <a:gd name="adj" fmla="val 90998"/>
            </a:avLst>
          </a:prstGeom>
          <a:solidFill>
            <a:srgbClr val="FF954F"/>
          </a:solidFill>
          <a:ln/>
        </p:spPr>
      </p:sp>
      <p:sp>
        <p:nvSpPr>
          <p:cNvPr id="9" name="Text 7"/>
          <p:cNvSpPr/>
          <p:nvPr/>
        </p:nvSpPr>
        <p:spPr>
          <a:xfrm>
            <a:off x="982742" y="3491270"/>
            <a:ext cx="284785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DRI 관리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2742" y="4059436"/>
            <a:ext cx="7242572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일일 위험예측 지수 자동 산출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3301" y="4735830"/>
            <a:ext cx="7752874" cy="1267420"/>
          </a:xfrm>
          <a:prstGeom prst="roundRect">
            <a:avLst>
              <a:gd name="adj" fmla="val 8658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0441" y="4735830"/>
            <a:ext cx="91440" cy="1267420"/>
          </a:xfrm>
          <a:prstGeom prst="roundRect">
            <a:avLst>
              <a:gd name="adj" fmla="val 90998"/>
            </a:avLst>
          </a:prstGeom>
          <a:solidFill>
            <a:srgbClr val="FF954F"/>
          </a:solidFill>
          <a:ln/>
        </p:spPr>
      </p:sp>
      <p:sp>
        <p:nvSpPr>
          <p:cNvPr id="13" name="Text 11"/>
          <p:cNvSpPr/>
          <p:nvPr/>
        </p:nvSpPr>
        <p:spPr>
          <a:xfrm>
            <a:off x="982742" y="4956691"/>
            <a:ext cx="284785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교육 이력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2742" y="5524857"/>
            <a:ext cx="7242572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안전교육 만료 알림 및 이력 관리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3301" y="6201251"/>
            <a:ext cx="7752874" cy="1267420"/>
          </a:xfrm>
          <a:prstGeom prst="roundRect">
            <a:avLst>
              <a:gd name="adj" fmla="val 8658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441" y="6201251"/>
            <a:ext cx="91440" cy="1267420"/>
          </a:xfrm>
          <a:prstGeom prst="roundRect">
            <a:avLst>
              <a:gd name="adj" fmla="val 90998"/>
            </a:avLst>
          </a:prstGeom>
          <a:solidFill>
            <a:srgbClr val="FF954F"/>
          </a:solidFill>
          <a:ln/>
        </p:spPr>
      </p:sp>
      <p:sp>
        <p:nvSpPr>
          <p:cNvPr id="17" name="Text 15"/>
          <p:cNvSpPr/>
          <p:nvPr/>
        </p:nvSpPr>
        <p:spPr>
          <a:xfrm>
            <a:off x="982742" y="6422112"/>
            <a:ext cx="284785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현장 점검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2742" y="6990278"/>
            <a:ext cx="7242572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모바일 체크리스트 기반 실시간 점검</a:t>
            </a:r>
            <a:endParaRPr lang="en-US" sz="15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7188" y="1804988"/>
            <a:ext cx="5007412" cy="50074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6649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 기술 도입 로드맵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33951" y="3975259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3748385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30" y="3918525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65570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1단계: 즉시 도입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20604" y="5215652"/>
            <a:ext cx="374273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안전사진 분석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AI 기반 위험요소 자동 감지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0604" y="5941338"/>
            <a:ext cx="374273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장비·인력 추천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기초 자동 배치 모델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57123" y="3634978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16962" y="3408105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7102" y="3578245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315420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2단계: 단기 도입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5443776" y="4875371"/>
            <a:ext cx="374273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스크랩 중량 분석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영상 기반 중량 추정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443776" y="5306258"/>
            <a:ext cx="374273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차량 경로 최적화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운송 효율 극대화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980295" y="3294817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40133" y="3067943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0274" y="3238083"/>
            <a:ext cx="340162" cy="3401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66948" y="397525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3단계: 고도화</a:t>
            </a:r>
            <a:endParaRPr lang="en-US" sz="2550" dirty="0"/>
          </a:p>
        </p:txBody>
      </p:sp>
      <p:sp>
        <p:nvSpPr>
          <p:cNvPr id="19" name="Text 14"/>
          <p:cNvSpPr/>
          <p:nvPr/>
        </p:nvSpPr>
        <p:spPr>
          <a:xfrm>
            <a:off x="9866948" y="4535210"/>
            <a:ext cx="374273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예측 정비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센서 데이터 기반 장비 관리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866948" y="4966097"/>
            <a:ext cx="374273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공정 최적화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AI 시뮬레이션 기반 계획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325" y="547926"/>
            <a:ext cx="5712023" cy="74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업무 프로세스 혁신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588532"/>
            <a:ext cx="993338" cy="15232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87260" y="1787128"/>
            <a:ext cx="2855952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프로젝트 착수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887260" y="2277547"/>
            <a:ext cx="6561415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수기 문서 준비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887260" y="2654975"/>
            <a:ext cx="6561415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highlight>
                  <a:srgbClr val="FF954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PMS 자동 생성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3111818"/>
            <a:ext cx="993338" cy="152328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87260" y="3310414"/>
            <a:ext cx="2855952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자원 배치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887260" y="3800832"/>
            <a:ext cx="6561415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엑셀 조합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887260" y="4178260"/>
            <a:ext cx="6561415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highlight>
                  <a:srgbClr val="FF954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추천 + 승인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4635103"/>
            <a:ext cx="993338" cy="152328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87260" y="4833699"/>
            <a:ext cx="2855952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현장 작업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887260" y="5324118"/>
            <a:ext cx="6561415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사진 따로 저장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887260" y="5701546"/>
            <a:ext cx="6561415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highlight>
                  <a:srgbClr val="FF954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앱 자동 업로드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6158389"/>
            <a:ext cx="993338" cy="152328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87260" y="6356985"/>
            <a:ext cx="2855952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보고서 제출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887260" y="6847403"/>
            <a:ext cx="6561415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수기 작성 2~3시간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887260" y="7224832"/>
            <a:ext cx="6561415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자동 템플릿 생성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781" y="421005"/>
            <a:ext cx="4401383" cy="572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기대 효과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2935962" y="2294334"/>
            <a:ext cx="1882973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70%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389" y="1337548"/>
            <a:ext cx="2296358" cy="22963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77252" y="3825121"/>
            <a:ext cx="2200632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문서 작성 시간 단축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35781" y="4202906"/>
            <a:ext cx="6683693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보고서 자동화로 업무 효율 극대화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11107" y="2294334"/>
            <a:ext cx="1882973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50%</a:t>
            </a:r>
            <a:endParaRPr lang="en-US" sz="3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534" y="1337548"/>
            <a:ext cx="2296358" cy="22963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52397" y="3825121"/>
            <a:ext cx="2200632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안전사고 감소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410807" y="4202906"/>
            <a:ext cx="6683812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기반 위험 예측 및 실시간 모니터링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935962" y="5702975"/>
            <a:ext cx="1882973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40%</a:t>
            </a:r>
            <a:endParaRPr lang="en-US" sz="3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389" y="4746188"/>
            <a:ext cx="2296358" cy="22963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77252" y="7233761"/>
            <a:ext cx="2200632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장비 가동률 향상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35781" y="7611547"/>
            <a:ext cx="6683693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최적 배치 및 예측 정비로 효율 증대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811107" y="5702975"/>
            <a:ext cx="1882973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90%</a:t>
            </a:r>
            <a:endParaRPr lang="en-US" sz="3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4534" y="4746188"/>
            <a:ext cx="2296358" cy="22963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52397" y="7233761"/>
            <a:ext cx="2200632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데이터 정확도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410807" y="7611547"/>
            <a:ext cx="6683812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중앙화된 DB로 오류 및 중복 제거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318" y="499586"/>
            <a:ext cx="5219343" cy="67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실행 계획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839510" y="1450419"/>
            <a:ext cx="22860" cy="5431036"/>
          </a:xfrm>
          <a:prstGeom prst="roundRect">
            <a:avLst>
              <a:gd name="adj" fmla="val 333548"/>
            </a:avLst>
          </a:prstGeom>
          <a:solidFill>
            <a:srgbClr val="FFE0CC"/>
          </a:solidFill>
          <a:ln/>
        </p:spPr>
      </p:sp>
      <p:sp>
        <p:nvSpPr>
          <p:cNvPr id="5" name="Shape 2"/>
          <p:cNvSpPr/>
          <p:nvPr/>
        </p:nvSpPr>
        <p:spPr>
          <a:xfrm>
            <a:off x="1020842" y="1643182"/>
            <a:ext cx="544592" cy="22860"/>
          </a:xfrm>
          <a:prstGeom prst="roundRect">
            <a:avLst>
              <a:gd name="adj" fmla="val 333548"/>
            </a:avLst>
          </a:prstGeom>
          <a:solidFill>
            <a:srgbClr val="FFE0CC"/>
          </a:solidFill>
          <a:ln/>
        </p:spPr>
      </p:sp>
      <p:sp>
        <p:nvSpPr>
          <p:cNvPr id="6" name="Shape 3"/>
          <p:cNvSpPr/>
          <p:nvPr/>
        </p:nvSpPr>
        <p:spPr>
          <a:xfrm>
            <a:off x="635318" y="1450419"/>
            <a:ext cx="408384" cy="408384"/>
          </a:xfrm>
          <a:prstGeom prst="roundRect">
            <a:avLst>
              <a:gd name="adj" fmla="val 18671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2943" y="1451074"/>
            <a:ext cx="313134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747242" y="1507093"/>
            <a:ext cx="2609612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1~3개월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747242" y="1955125"/>
            <a:ext cx="676144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요구분석 및 설계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47242" y="2299930"/>
            <a:ext cx="676144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현황조사, BPR, 시스템 설계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20842" y="3091696"/>
            <a:ext cx="544592" cy="22860"/>
          </a:xfrm>
          <a:prstGeom prst="roundRect">
            <a:avLst>
              <a:gd name="adj" fmla="val 333548"/>
            </a:avLst>
          </a:prstGeom>
          <a:solidFill>
            <a:srgbClr val="FFE0CC"/>
          </a:solidFill>
          <a:ln/>
        </p:spPr>
      </p:sp>
      <p:sp>
        <p:nvSpPr>
          <p:cNvPr id="12" name="Shape 9"/>
          <p:cNvSpPr/>
          <p:nvPr/>
        </p:nvSpPr>
        <p:spPr>
          <a:xfrm>
            <a:off x="635318" y="2898934"/>
            <a:ext cx="408384" cy="408384"/>
          </a:xfrm>
          <a:prstGeom prst="roundRect">
            <a:avLst>
              <a:gd name="adj" fmla="val 18671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2943" y="2899589"/>
            <a:ext cx="313134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1747242" y="2955608"/>
            <a:ext cx="2609612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4~8개월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747242" y="3403640"/>
            <a:ext cx="676144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시스템 개발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47242" y="3748445"/>
            <a:ext cx="676144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PMS, SMS, 모바일 앱 구축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20842" y="4540210"/>
            <a:ext cx="544592" cy="22860"/>
          </a:xfrm>
          <a:prstGeom prst="roundRect">
            <a:avLst>
              <a:gd name="adj" fmla="val 333548"/>
            </a:avLst>
          </a:prstGeom>
          <a:solidFill>
            <a:srgbClr val="FFE0CC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318" y="4347448"/>
            <a:ext cx="408384" cy="408384"/>
          </a:xfrm>
          <a:prstGeom prst="roundRect">
            <a:avLst>
              <a:gd name="adj" fmla="val 18671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2943" y="4348103"/>
            <a:ext cx="313134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1747242" y="4404122"/>
            <a:ext cx="2609612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9~10개월</a:t>
            </a:r>
            <a:endParaRPr lang="en-US" sz="2050" dirty="0"/>
          </a:p>
        </p:txBody>
      </p:sp>
      <p:sp>
        <p:nvSpPr>
          <p:cNvPr id="21" name="Text 18"/>
          <p:cNvSpPr/>
          <p:nvPr/>
        </p:nvSpPr>
        <p:spPr>
          <a:xfrm>
            <a:off x="1747242" y="4852154"/>
            <a:ext cx="676144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테스트 및 교육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747242" y="5196959"/>
            <a:ext cx="676144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 교육 및 안정화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20842" y="5988725"/>
            <a:ext cx="544592" cy="22860"/>
          </a:xfrm>
          <a:prstGeom prst="roundRect">
            <a:avLst>
              <a:gd name="adj" fmla="val 333548"/>
            </a:avLst>
          </a:prstGeom>
          <a:solidFill>
            <a:srgbClr val="FFE0CC"/>
          </a:solidFill>
          <a:ln/>
        </p:spPr>
      </p:sp>
      <p:sp>
        <p:nvSpPr>
          <p:cNvPr id="24" name="Shape 21"/>
          <p:cNvSpPr/>
          <p:nvPr/>
        </p:nvSpPr>
        <p:spPr>
          <a:xfrm>
            <a:off x="635318" y="5795963"/>
            <a:ext cx="408384" cy="408384"/>
          </a:xfrm>
          <a:prstGeom prst="roundRect">
            <a:avLst>
              <a:gd name="adj" fmla="val 18671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2943" y="5796617"/>
            <a:ext cx="313134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2450" dirty="0"/>
          </a:p>
        </p:txBody>
      </p:sp>
      <p:sp>
        <p:nvSpPr>
          <p:cNvPr id="26" name="Text 23"/>
          <p:cNvSpPr/>
          <p:nvPr/>
        </p:nvSpPr>
        <p:spPr>
          <a:xfrm>
            <a:off x="1747242" y="5852636"/>
            <a:ext cx="2609612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11개월~</a:t>
            </a:r>
            <a:endParaRPr lang="en-US" sz="2050" dirty="0"/>
          </a:p>
        </p:txBody>
      </p:sp>
      <p:sp>
        <p:nvSpPr>
          <p:cNvPr id="27" name="Text 24"/>
          <p:cNvSpPr/>
          <p:nvPr/>
        </p:nvSpPr>
        <p:spPr>
          <a:xfrm>
            <a:off x="1747242" y="6300668"/>
            <a:ext cx="676144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운영 및 고도화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747242" y="6645473"/>
            <a:ext cx="676144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기능 단계적 추가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07613" y="7289840"/>
            <a:ext cx="7601069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체계적인 디지털 전환으로 크로스특수(주)는 업계 선도 기업으로 도약합니다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35318" y="7085648"/>
            <a:ext cx="22860" cy="644366"/>
          </a:xfrm>
          <a:prstGeom prst="rect">
            <a:avLst/>
          </a:prstGeom>
          <a:solidFill>
            <a:srgbClr val="FF95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2025-12-04T22:23:49Z</dcterms:created>
  <dcterms:modified xsi:type="dcterms:W3CDTF">2025-12-04T22:23:49Z</dcterms:modified>
</cp:coreProperties>
</file>